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handoutMasterIdLst>
    <p:handoutMasterId r:id="rId18"/>
  </p:handoutMasterIdLst>
  <p:sldIdLst>
    <p:sldId id="256" r:id="rId3"/>
    <p:sldId id="257" r:id="rId4"/>
    <p:sldId id="259" r:id="rId5"/>
    <p:sldId id="260" r:id="rId6"/>
    <p:sldId id="261" r:id="rId8"/>
    <p:sldId id="262" r:id="rId9"/>
    <p:sldId id="263" r:id="rId10"/>
    <p:sldId id="264" r:id="rId11"/>
    <p:sldId id="268" r:id="rId12"/>
    <p:sldId id="265" r:id="rId13"/>
    <p:sldId id="266" r:id="rId14"/>
    <p:sldId id="269" r:id="rId15"/>
    <p:sldId id="270" r:id="rId16"/>
    <p:sldId id="267" r:id="rId17"/>
  </p:sldIdLst>
  <p:sldSz cx="18288000" cy="10287000"/>
  <p:notesSz cx="6858000" cy="9144000"/>
  <p:embeddedFontLst>
    <p:embeddedFont>
      <p:font typeface="Lato" panose="020F0502020204030203"/>
      <p:regular r:id="rId22"/>
    </p:embeddedFont>
    <p:embeddedFont>
      <p:font typeface="Heebo Bold" panose="00000800000000000000"/>
      <p:bold r:id="rId23"/>
    </p:embeddedFont>
    <p:embeddedFont>
      <p:font typeface="Lato Bold" panose="020F0502020204030203"/>
      <p:bold r:id="rId24"/>
    </p:embeddedFont>
    <p:embeddedFont>
      <p:font typeface="Microsoft YaHei" panose="020B0503020204020204" charset="-122"/>
      <p:regular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  <p:embeddedFont>
      <p:font typeface="Roboto" panose="02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0" userDrawn="1">
          <p15:clr>
            <a:srgbClr val="A4A3A4"/>
          </p15:clr>
        </p15:guide>
        <p15:guide id="2" pos="29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16"/>
    <a:srgbClr val="FFDA68"/>
    <a:srgbClr val="FF7474"/>
    <a:srgbClr val="F8B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09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tags" Target="../tags/tag1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3.svg"/><Relationship Id="rId2" Type="http://schemas.openxmlformats.org/officeDocument/2006/relationships/image" Target="../media/image2.svg"/><Relationship Id="rId19" Type="http://schemas.openxmlformats.org/officeDocument/2006/relationships/image" Target="../media/image12.png"/><Relationship Id="rId18" Type="http://schemas.openxmlformats.org/officeDocument/2006/relationships/tags" Target="../tags/tag9.xml"/><Relationship Id="rId17" Type="http://schemas.openxmlformats.org/officeDocument/2006/relationships/tags" Target="../tags/tag8.xml"/><Relationship Id="rId16" Type="http://schemas.openxmlformats.org/officeDocument/2006/relationships/tags" Target="../tags/tag7.xml"/><Relationship Id="rId15" Type="http://schemas.openxmlformats.org/officeDocument/2006/relationships/tags" Target="../tags/tag6.xml"/><Relationship Id="rId14" Type="http://schemas.openxmlformats.org/officeDocument/2006/relationships/tags" Target="../tags/tag5.xml"/><Relationship Id="rId13" Type="http://schemas.openxmlformats.org/officeDocument/2006/relationships/tags" Target="../tags/tag4.xml"/><Relationship Id="rId12" Type="http://schemas.openxmlformats.org/officeDocument/2006/relationships/tags" Target="../tags/tag3.xml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6.png"/><Relationship Id="rId7" Type="http://schemas.openxmlformats.org/officeDocument/2006/relationships/tags" Target="../tags/tag10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5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3342">
            <a:off x="12347359" y="-1716641"/>
            <a:ext cx="7511977" cy="96991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6" y="0"/>
                </a:lnTo>
                <a:lnTo>
                  <a:pt x="7511976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51194" y="2234314"/>
            <a:ext cx="6236806" cy="8052686"/>
          </a:xfrm>
          <a:custGeom>
            <a:avLst/>
            <a:gdLst/>
            <a:ahLst/>
            <a:cxnLst/>
            <a:rect l="l" t="t" r="r" b="b"/>
            <a:pathLst>
              <a:path w="6236806" h="8052686">
                <a:moveTo>
                  <a:pt x="0" y="0"/>
                </a:moveTo>
                <a:lnTo>
                  <a:pt x="6236806" y="0"/>
                </a:lnTo>
                <a:lnTo>
                  <a:pt x="6236806" y="8052686"/>
                </a:lnTo>
                <a:lnTo>
                  <a:pt x="0" y="80526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0" y="0"/>
            <a:ext cx="2655819" cy="4132861"/>
          </a:xfrm>
          <a:custGeom>
            <a:avLst/>
            <a:gdLst/>
            <a:ahLst/>
            <a:cxnLst/>
            <a:rect l="l" t="t" r="r" b="b"/>
            <a:pathLst>
              <a:path w="2655819" h="4132861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43741" y="3766705"/>
            <a:ext cx="12371749" cy="215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altLang="en-GB" sz="6000" b="1" spc="300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Medicare Inpatient Billing Analysis</a:t>
            </a:r>
            <a:endParaRPr lang="en-US" altLang="en-GB" sz="6000" b="1" spc="300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438356" y="5981881"/>
            <a:ext cx="12371749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0"/>
              </a:lnSpc>
            </a:pPr>
            <a:r>
              <a:rPr lang="en-IN" altLang="en-US" sz="2300" b="1" spc="22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Shasti Alagan R</a:t>
            </a:r>
            <a:r>
              <a:rPr lang="en-US" altLang="en-GB" sz="2300" b="1" spc="22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 | EXL Case Study</a:t>
            </a:r>
            <a:endParaRPr lang="en-US" altLang="en-GB" sz="2300" b="1" spc="22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438356" y="3466934"/>
            <a:ext cx="12371749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altLang="en-GB" sz="2400" b="1" spc="239">
                <a:solidFill>
                  <a:srgbClr val="000000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US Healthcare Payment Integrity</a:t>
            </a:r>
            <a:endParaRPr lang="en-US" altLang="en-GB" sz="2400" b="1" spc="239">
              <a:solidFill>
                <a:srgbClr val="000000"/>
              </a:solidFill>
              <a:latin typeface="Lato Bold" panose="020F0502020204030203"/>
              <a:ea typeface="Lato Bold" panose="020F0502020204030203"/>
              <a:cs typeface="Lato Bold" panose="020F0502020204030203"/>
              <a:sym typeface="Lato Bold" panose="020F0502020204030203"/>
            </a:endParaRPr>
          </a:p>
        </p:txBody>
      </p:sp>
      <p:pic>
        <p:nvPicPr>
          <p:cNvPr id="12" name="Picture 11" descr="EXL_Service_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95" y="9258300"/>
            <a:ext cx="1395095" cy="515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 21"/>
          <p:cNvSpPr/>
          <p:nvPr/>
        </p:nvSpPr>
        <p:spPr>
          <a:xfrm rot="15060000" flipV="1">
            <a:off x="12818745" y="5010785"/>
            <a:ext cx="742950" cy="887730"/>
          </a:xfrm>
          <a:custGeom>
            <a:avLst/>
            <a:gdLst/>
            <a:ahLst/>
            <a:cxnLst/>
            <a:rect l="l" t="t" r="r" b="b"/>
            <a:pathLst>
              <a:path w="802634" h="832087">
                <a:moveTo>
                  <a:pt x="0" y="832087"/>
                </a:moveTo>
                <a:lnTo>
                  <a:pt x="802635" y="832087"/>
                </a:lnTo>
                <a:lnTo>
                  <a:pt x="802635" y="0"/>
                </a:lnTo>
                <a:lnTo>
                  <a:pt x="0" y="0"/>
                </a:lnTo>
                <a:lnTo>
                  <a:pt x="0" y="83208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53265"/>
            </a:stretch>
          </a:blipFill>
        </p:spPr>
        <p:txBody>
          <a:bodyPr/>
          <a:p>
            <a:endParaRPr lang="en-GB" altLang="en-US"/>
          </a:p>
        </p:txBody>
      </p:sp>
      <p:grpSp>
        <p:nvGrpSpPr>
          <p:cNvPr id="96" name="Group 15"/>
          <p:cNvGrpSpPr/>
          <p:nvPr/>
        </p:nvGrpSpPr>
        <p:grpSpPr>
          <a:xfrm rot="0">
            <a:off x="2972274" y="4000287"/>
            <a:ext cx="2952750" cy="3144839"/>
            <a:chOff x="0" y="0"/>
            <a:chExt cx="1598650" cy="1702650"/>
          </a:xfrm>
        </p:grpSpPr>
        <p:sp>
          <p:nvSpPr>
            <p:cNvPr id="97" name="Freeform 16"/>
            <p:cNvSpPr/>
            <p:nvPr/>
          </p:nvSpPr>
          <p:spPr>
            <a:xfrm>
              <a:off x="39982" y="45156"/>
              <a:ext cx="1558669" cy="1656788"/>
            </a:xfrm>
            <a:custGeom>
              <a:avLst/>
              <a:gdLst/>
              <a:ahLst/>
              <a:cxnLst/>
              <a:rect l="l" t="t" r="r" b="b"/>
              <a:pathLst>
                <a:path w="1558669" h="1656788">
                  <a:moveTo>
                    <a:pt x="658" y="1627013"/>
                  </a:moveTo>
                  <a:cubicBezTo>
                    <a:pt x="-1882" y="1635903"/>
                    <a:pt x="3198" y="1642253"/>
                    <a:pt x="11284" y="1643523"/>
                  </a:cubicBezTo>
                  <a:cubicBezTo>
                    <a:pt x="20507" y="1644793"/>
                    <a:pt x="28576" y="1644793"/>
                    <a:pt x="37799" y="1644793"/>
                  </a:cubicBezTo>
                  <a:cubicBezTo>
                    <a:pt x="74689" y="1646063"/>
                    <a:pt x="111580" y="1646063"/>
                    <a:pt x="149623" y="1647334"/>
                  </a:cubicBezTo>
                  <a:cubicBezTo>
                    <a:pt x="170374" y="1648603"/>
                    <a:pt x="191125" y="1649873"/>
                    <a:pt x="210723" y="1651143"/>
                  </a:cubicBezTo>
                  <a:cubicBezTo>
                    <a:pt x="245307" y="1652413"/>
                    <a:pt x="278739" y="1652413"/>
                    <a:pt x="313324" y="1653684"/>
                  </a:cubicBezTo>
                  <a:cubicBezTo>
                    <a:pt x="327158" y="1653684"/>
                    <a:pt x="339839" y="1653684"/>
                    <a:pt x="353673" y="1652413"/>
                  </a:cubicBezTo>
                  <a:cubicBezTo>
                    <a:pt x="359437" y="1652413"/>
                    <a:pt x="366354" y="1651143"/>
                    <a:pt x="372118" y="1651143"/>
                  </a:cubicBezTo>
                  <a:cubicBezTo>
                    <a:pt x="395174" y="1652413"/>
                    <a:pt x="856304" y="1643523"/>
                    <a:pt x="879360" y="1644793"/>
                  </a:cubicBezTo>
                  <a:cubicBezTo>
                    <a:pt x="911639" y="1646063"/>
                    <a:pt x="1000407" y="1646063"/>
                    <a:pt x="1032685" y="1646063"/>
                  </a:cubicBezTo>
                  <a:cubicBezTo>
                    <a:pt x="1045367" y="1646063"/>
                    <a:pt x="1056895" y="1644793"/>
                    <a:pt x="1069576" y="1644793"/>
                  </a:cubicBezTo>
                  <a:lnTo>
                    <a:pt x="1131828" y="1648603"/>
                  </a:lnTo>
                  <a:cubicBezTo>
                    <a:pt x="1176788" y="1651143"/>
                    <a:pt x="1220596" y="1648603"/>
                    <a:pt x="1265556" y="1652413"/>
                  </a:cubicBezTo>
                  <a:cubicBezTo>
                    <a:pt x="1340489" y="1657493"/>
                    <a:pt x="1416576" y="1651143"/>
                    <a:pt x="1495168" y="1656223"/>
                  </a:cubicBezTo>
                  <a:cubicBezTo>
                    <a:pt x="1515489" y="1657493"/>
                    <a:pt x="1535808" y="1656223"/>
                    <a:pt x="1558668" y="1656223"/>
                  </a:cubicBezTo>
                  <a:lnTo>
                    <a:pt x="1558668" y="1596534"/>
                  </a:lnTo>
                  <a:cubicBezTo>
                    <a:pt x="1557398" y="1532636"/>
                    <a:pt x="1556129" y="1473144"/>
                    <a:pt x="1556129" y="1409934"/>
                  </a:cubicBezTo>
                  <a:cubicBezTo>
                    <a:pt x="1556129" y="1336808"/>
                    <a:pt x="1559939" y="1262443"/>
                    <a:pt x="1553589" y="1189317"/>
                  </a:cubicBezTo>
                  <a:cubicBezTo>
                    <a:pt x="1545968" y="1140980"/>
                    <a:pt x="1534539" y="187866"/>
                    <a:pt x="1534539" y="139529"/>
                  </a:cubicBezTo>
                  <a:cubicBezTo>
                    <a:pt x="1531998" y="106065"/>
                    <a:pt x="1530729" y="71361"/>
                    <a:pt x="1528189" y="37897"/>
                  </a:cubicBezTo>
                  <a:cubicBezTo>
                    <a:pt x="1528189" y="27981"/>
                    <a:pt x="1526918" y="18066"/>
                    <a:pt x="1525648" y="5644"/>
                  </a:cubicBezTo>
                  <a:cubicBezTo>
                    <a:pt x="1515489" y="3104"/>
                    <a:pt x="1506598" y="1834"/>
                    <a:pt x="1496439" y="564"/>
                  </a:cubicBezTo>
                  <a:cubicBezTo>
                    <a:pt x="1488818" y="-706"/>
                    <a:pt x="1481198" y="564"/>
                    <a:pt x="1474848" y="564"/>
                  </a:cubicBezTo>
                  <a:lnTo>
                    <a:pt x="5520" y="5644"/>
                  </a:lnTo>
                  <a:lnTo>
                    <a:pt x="658" y="1627013"/>
                  </a:lnTo>
                  <a:close/>
                </a:path>
              </a:pathLst>
            </a:custGeom>
            <a:solidFill>
              <a:srgbClr val="FCFCF8"/>
            </a:solidFill>
          </p:spPr>
        </p:sp>
        <p:sp>
          <p:nvSpPr>
            <p:cNvPr id="98" name="Freeform 17"/>
            <p:cNvSpPr/>
            <p:nvPr/>
          </p:nvSpPr>
          <p:spPr>
            <a:xfrm>
              <a:off x="11430" y="16510"/>
              <a:ext cx="1537691" cy="1648040"/>
            </a:xfrm>
            <a:custGeom>
              <a:avLst/>
              <a:gdLst/>
              <a:ahLst/>
              <a:cxnLst/>
              <a:rect l="l" t="t" r="r" b="b"/>
              <a:pathLst>
                <a:path w="1537691" h="1648040">
                  <a:moveTo>
                    <a:pt x="1537691" y="1648040"/>
                  </a:moveTo>
                  <a:lnTo>
                    <a:pt x="0" y="1640419"/>
                  </a:lnTo>
                  <a:lnTo>
                    <a:pt x="0" y="584620"/>
                  </a:lnTo>
                  <a:lnTo>
                    <a:pt x="7620" y="20320"/>
                  </a:lnTo>
                  <a:lnTo>
                    <a:pt x="763809" y="0"/>
                  </a:lnTo>
                  <a:lnTo>
                    <a:pt x="1516101" y="8890"/>
                  </a:lnTo>
                  <a:close/>
                </a:path>
              </a:pathLst>
            </a:custGeom>
            <a:solidFill>
              <a:schemeClr val="accent6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99" name="Freeform 18"/>
            <p:cNvSpPr/>
            <p:nvPr/>
          </p:nvSpPr>
          <p:spPr>
            <a:xfrm>
              <a:off x="-215" y="0"/>
              <a:ext cx="1562035" cy="1674004"/>
            </a:xfrm>
            <a:custGeom>
              <a:avLst/>
              <a:gdLst/>
              <a:ahLst/>
              <a:cxnLst/>
              <a:rect l="l" t="t" r="r" b="b"/>
              <a:pathLst>
                <a:path w="1562035" h="1674004">
                  <a:moveTo>
                    <a:pt x="1529015" y="21590"/>
                  </a:moveTo>
                  <a:cubicBezTo>
                    <a:pt x="1530286" y="34290"/>
                    <a:pt x="1530286" y="44450"/>
                    <a:pt x="1531555" y="54546"/>
                  </a:cubicBezTo>
                  <a:cubicBezTo>
                    <a:pt x="1534095" y="88010"/>
                    <a:pt x="1535365" y="122714"/>
                    <a:pt x="1537905" y="156179"/>
                  </a:cubicBezTo>
                  <a:cubicBezTo>
                    <a:pt x="1537905" y="204516"/>
                    <a:pt x="1550605" y="1157629"/>
                    <a:pt x="1556955" y="1205967"/>
                  </a:cubicBezTo>
                  <a:cubicBezTo>
                    <a:pt x="1563305" y="1279092"/>
                    <a:pt x="1559495" y="1353458"/>
                    <a:pt x="1559495" y="1426583"/>
                  </a:cubicBezTo>
                  <a:cubicBezTo>
                    <a:pt x="1559495" y="1491033"/>
                    <a:pt x="1560765" y="1550525"/>
                    <a:pt x="1562036" y="1613749"/>
                  </a:cubicBezTo>
                  <a:lnTo>
                    <a:pt x="1562036" y="1673440"/>
                  </a:lnTo>
                  <a:cubicBezTo>
                    <a:pt x="1539176" y="1673440"/>
                    <a:pt x="1518855" y="1674709"/>
                    <a:pt x="1498536" y="1673440"/>
                  </a:cubicBezTo>
                  <a:cubicBezTo>
                    <a:pt x="1423341" y="1668359"/>
                    <a:pt x="1347254" y="1674709"/>
                    <a:pt x="1272321" y="1669629"/>
                  </a:cubicBezTo>
                  <a:cubicBezTo>
                    <a:pt x="1227361" y="1665819"/>
                    <a:pt x="1183554" y="1668359"/>
                    <a:pt x="1138593" y="1665819"/>
                  </a:cubicBezTo>
                  <a:lnTo>
                    <a:pt x="1076341" y="1662009"/>
                  </a:lnTo>
                  <a:cubicBezTo>
                    <a:pt x="1063660" y="1662009"/>
                    <a:pt x="1052132" y="1663279"/>
                    <a:pt x="1039451" y="1663279"/>
                  </a:cubicBezTo>
                  <a:cubicBezTo>
                    <a:pt x="1007172" y="1662009"/>
                    <a:pt x="918404" y="1663279"/>
                    <a:pt x="886125" y="1662009"/>
                  </a:cubicBezTo>
                  <a:cubicBezTo>
                    <a:pt x="863069" y="1660740"/>
                    <a:pt x="401939" y="1669629"/>
                    <a:pt x="378883" y="1668359"/>
                  </a:cubicBezTo>
                  <a:cubicBezTo>
                    <a:pt x="373119" y="1668359"/>
                    <a:pt x="366202" y="1669629"/>
                    <a:pt x="360438" y="1669629"/>
                  </a:cubicBezTo>
                  <a:cubicBezTo>
                    <a:pt x="346604" y="1669629"/>
                    <a:pt x="333923" y="1670899"/>
                    <a:pt x="320089" y="1670899"/>
                  </a:cubicBezTo>
                  <a:cubicBezTo>
                    <a:pt x="285504" y="1670899"/>
                    <a:pt x="252072" y="1669629"/>
                    <a:pt x="217488" y="1668359"/>
                  </a:cubicBezTo>
                  <a:cubicBezTo>
                    <a:pt x="196737" y="1667090"/>
                    <a:pt x="175986" y="1665819"/>
                    <a:pt x="156388" y="1664549"/>
                  </a:cubicBezTo>
                  <a:cubicBezTo>
                    <a:pt x="119498" y="1663279"/>
                    <a:pt x="82607" y="1662009"/>
                    <a:pt x="44564" y="1662009"/>
                  </a:cubicBezTo>
                  <a:cubicBezTo>
                    <a:pt x="34505" y="1662009"/>
                    <a:pt x="25615" y="1662009"/>
                    <a:pt x="15455" y="1660740"/>
                  </a:cubicBezTo>
                  <a:cubicBezTo>
                    <a:pt x="6565" y="1659469"/>
                    <a:pt x="1485" y="1653119"/>
                    <a:pt x="4025" y="1644229"/>
                  </a:cubicBezTo>
                  <a:cubicBezTo>
                    <a:pt x="12915" y="1612496"/>
                    <a:pt x="9105" y="1581511"/>
                    <a:pt x="7835" y="1549286"/>
                  </a:cubicBezTo>
                  <a:cubicBezTo>
                    <a:pt x="6565" y="1483597"/>
                    <a:pt x="2755" y="1419147"/>
                    <a:pt x="4025" y="1353458"/>
                  </a:cubicBezTo>
                  <a:cubicBezTo>
                    <a:pt x="1485" y="1271656"/>
                    <a:pt x="-3595" y="259050"/>
                    <a:pt x="4025" y="176009"/>
                  </a:cubicBezTo>
                  <a:cubicBezTo>
                    <a:pt x="5295" y="159897"/>
                    <a:pt x="4025" y="142545"/>
                    <a:pt x="5295" y="126432"/>
                  </a:cubicBezTo>
                  <a:cubicBezTo>
                    <a:pt x="6565" y="100405"/>
                    <a:pt x="9105" y="71898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3787" y="30480"/>
                    <a:pt x="72232" y="29210"/>
                  </a:cubicBezTo>
                  <a:cubicBezTo>
                    <a:pt x="103358" y="25400"/>
                    <a:pt x="134484" y="22860"/>
                    <a:pt x="166763" y="20320"/>
                  </a:cubicBezTo>
                  <a:cubicBezTo>
                    <a:pt x="188667" y="17780"/>
                    <a:pt x="210571" y="16510"/>
                    <a:pt x="231322" y="13970"/>
                  </a:cubicBezTo>
                  <a:cubicBezTo>
                    <a:pt x="252072" y="11430"/>
                    <a:pt x="273976" y="8890"/>
                    <a:pt x="294727" y="8890"/>
                  </a:cubicBezTo>
                  <a:cubicBezTo>
                    <a:pt x="317783" y="7620"/>
                    <a:pt x="340840" y="10160"/>
                    <a:pt x="363896" y="8890"/>
                  </a:cubicBezTo>
                  <a:cubicBezTo>
                    <a:pt x="392717" y="8890"/>
                    <a:pt x="914946" y="6350"/>
                    <a:pt x="943766" y="5080"/>
                  </a:cubicBezTo>
                  <a:cubicBezTo>
                    <a:pt x="971434" y="3810"/>
                    <a:pt x="999102" y="2540"/>
                    <a:pt x="1027922" y="2540"/>
                  </a:cubicBezTo>
                  <a:cubicBezTo>
                    <a:pt x="1075188" y="1270"/>
                    <a:pt x="1121301" y="0"/>
                    <a:pt x="1168567" y="0"/>
                  </a:cubicBezTo>
                  <a:cubicBezTo>
                    <a:pt x="1188165" y="0"/>
                    <a:pt x="1208916" y="2540"/>
                    <a:pt x="1228514" y="2540"/>
                  </a:cubicBezTo>
                  <a:cubicBezTo>
                    <a:pt x="1282696" y="3810"/>
                    <a:pt x="1338032" y="5080"/>
                    <a:pt x="1392215" y="7620"/>
                  </a:cubicBezTo>
                  <a:cubicBezTo>
                    <a:pt x="1421035" y="8890"/>
                    <a:pt x="1449856" y="12700"/>
                    <a:pt x="1478676" y="16510"/>
                  </a:cubicBezTo>
                  <a:lnTo>
                    <a:pt x="1498536" y="16510"/>
                  </a:lnTo>
                  <a:cubicBezTo>
                    <a:pt x="1509965" y="17780"/>
                    <a:pt x="1518855" y="20320"/>
                    <a:pt x="1529015" y="21590"/>
                  </a:cubicBezTo>
                  <a:close/>
                  <a:moveTo>
                    <a:pt x="1539176" y="1656929"/>
                  </a:moveTo>
                  <a:cubicBezTo>
                    <a:pt x="1540445" y="1640419"/>
                    <a:pt x="1541715" y="1627719"/>
                    <a:pt x="1541715" y="1615019"/>
                  </a:cubicBezTo>
                  <a:cubicBezTo>
                    <a:pt x="1540445" y="1544328"/>
                    <a:pt x="1539176" y="1478639"/>
                    <a:pt x="1539176" y="1407992"/>
                  </a:cubicBezTo>
                  <a:cubicBezTo>
                    <a:pt x="1539176" y="1375767"/>
                    <a:pt x="1541715" y="1343542"/>
                    <a:pt x="1540445" y="1311317"/>
                  </a:cubicBezTo>
                  <a:cubicBezTo>
                    <a:pt x="1540445" y="1281571"/>
                    <a:pt x="1539176" y="1250586"/>
                    <a:pt x="1537905" y="1220840"/>
                  </a:cubicBezTo>
                  <a:cubicBezTo>
                    <a:pt x="1532826" y="1174981"/>
                    <a:pt x="1521395" y="225586"/>
                    <a:pt x="1521395" y="179727"/>
                  </a:cubicBezTo>
                  <a:cubicBezTo>
                    <a:pt x="1518855" y="141306"/>
                    <a:pt x="1516315" y="101644"/>
                    <a:pt x="1513776" y="63222"/>
                  </a:cubicBezTo>
                  <a:cubicBezTo>
                    <a:pt x="1512505" y="44450"/>
                    <a:pt x="1511236" y="43180"/>
                    <a:pt x="1494816" y="41910"/>
                  </a:cubicBezTo>
                  <a:cubicBezTo>
                    <a:pt x="1491357" y="41910"/>
                    <a:pt x="1489052" y="41910"/>
                    <a:pt x="1485593" y="40640"/>
                  </a:cubicBezTo>
                  <a:cubicBezTo>
                    <a:pt x="1456773" y="36830"/>
                    <a:pt x="1426799" y="31750"/>
                    <a:pt x="1397979" y="30480"/>
                  </a:cubicBezTo>
                  <a:cubicBezTo>
                    <a:pt x="1327656" y="26670"/>
                    <a:pt x="1256181" y="25400"/>
                    <a:pt x="1185859" y="22860"/>
                  </a:cubicBezTo>
                  <a:lnTo>
                    <a:pt x="1102856" y="22860"/>
                  </a:lnTo>
                  <a:cubicBezTo>
                    <a:pt x="1065966" y="22860"/>
                    <a:pt x="1029075" y="22860"/>
                    <a:pt x="993338" y="24130"/>
                  </a:cubicBezTo>
                  <a:cubicBezTo>
                    <a:pt x="962212" y="25400"/>
                    <a:pt x="437677" y="29210"/>
                    <a:pt x="406551" y="29210"/>
                  </a:cubicBezTo>
                  <a:cubicBezTo>
                    <a:pt x="355826" y="29210"/>
                    <a:pt x="305102" y="26670"/>
                    <a:pt x="254378" y="33020"/>
                  </a:cubicBezTo>
                  <a:cubicBezTo>
                    <a:pt x="227863" y="36830"/>
                    <a:pt x="202501" y="36830"/>
                    <a:pt x="177139" y="38100"/>
                  </a:cubicBezTo>
                  <a:cubicBezTo>
                    <a:pt x="133332" y="41910"/>
                    <a:pt x="89524" y="45720"/>
                    <a:pt x="45717" y="50800"/>
                  </a:cubicBezTo>
                  <a:cubicBezTo>
                    <a:pt x="33235" y="50800"/>
                    <a:pt x="30695" y="53307"/>
                    <a:pt x="29425" y="68180"/>
                  </a:cubicBezTo>
                  <a:cubicBezTo>
                    <a:pt x="28155" y="90489"/>
                    <a:pt x="28155" y="112799"/>
                    <a:pt x="26885" y="135108"/>
                  </a:cubicBezTo>
                  <a:cubicBezTo>
                    <a:pt x="25615" y="172291"/>
                    <a:pt x="23075" y="208234"/>
                    <a:pt x="21805" y="245417"/>
                  </a:cubicBezTo>
                  <a:cubicBezTo>
                    <a:pt x="16725" y="285078"/>
                    <a:pt x="23075" y="1254304"/>
                    <a:pt x="25615" y="1293965"/>
                  </a:cubicBezTo>
                  <a:cubicBezTo>
                    <a:pt x="25615" y="1336106"/>
                    <a:pt x="25615" y="1379485"/>
                    <a:pt x="26885" y="1421626"/>
                  </a:cubicBezTo>
                  <a:cubicBezTo>
                    <a:pt x="26885" y="1452611"/>
                    <a:pt x="29425" y="1483597"/>
                    <a:pt x="29425" y="1514582"/>
                  </a:cubicBezTo>
                  <a:cubicBezTo>
                    <a:pt x="29425" y="1548046"/>
                    <a:pt x="29425" y="1581511"/>
                    <a:pt x="28155" y="1615019"/>
                  </a:cubicBezTo>
                  <a:lnTo>
                    <a:pt x="28155" y="1625179"/>
                  </a:lnTo>
                  <a:cubicBezTo>
                    <a:pt x="28155" y="1635340"/>
                    <a:pt x="31965" y="1639150"/>
                    <a:pt x="40855" y="1639150"/>
                  </a:cubicBezTo>
                  <a:cubicBezTo>
                    <a:pt x="56092" y="1639150"/>
                    <a:pt x="72232" y="1640419"/>
                    <a:pt x="87219" y="1640419"/>
                  </a:cubicBezTo>
                  <a:cubicBezTo>
                    <a:pt x="109122" y="1640419"/>
                    <a:pt x="132179" y="1637879"/>
                    <a:pt x="154082" y="1640419"/>
                  </a:cubicBezTo>
                  <a:cubicBezTo>
                    <a:pt x="189820" y="1644229"/>
                    <a:pt x="225557" y="1646769"/>
                    <a:pt x="261295" y="1645500"/>
                  </a:cubicBezTo>
                  <a:cubicBezTo>
                    <a:pt x="284351" y="1644229"/>
                    <a:pt x="306255" y="1646769"/>
                    <a:pt x="329312" y="1646769"/>
                  </a:cubicBezTo>
                  <a:cubicBezTo>
                    <a:pt x="362743" y="1646769"/>
                    <a:pt x="396175" y="1645500"/>
                    <a:pt x="429607" y="1646769"/>
                  </a:cubicBezTo>
                  <a:cubicBezTo>
                    <a:pt x="479179" y="1648040"/>
                    <a:pt x="1023311" y="1637879"/>
                    <a:pt x="1074035" y="1640419"/>
                  </a:cubicBezTo>
                  <a:cubicBezTo>
                    <a:pt x="1095939" y="1641690"/>
                    <a:pt x="1117843" y="1642960"/>
                    <a:pt x="1138593" y="1642960"/>
                  </a:cubicBezTo>
                  <a:cubicBezTo>
                    <a:pt x="1176637" y="1645500"/>
                    <a:pt x="1213527" y="1641690"/>
                    <a:pt x="1251570" y="1645500"/>
                  </a:cubicBezTo>
                  <a:cubicBezTo>
                    <a:pt x="1282696" y="1648040"/>
                    <a:pt x="1313823" y="1648040"/>
                    <a:pt x="1344949" y="1650579"/>
                  </a:cubicBezTo>
                  <a:cubicBezTo>
                    <a:pt x="1391062" y="1654390"/>
                    <a:pt x="1437175" y="1656929"/>
                    <a:pt x="1483288" y="1658200"/>
                  </a:cubicBezTo>
                  <a:cubicBezTo>
                    <a:pt x="1501076" y="1658200"/>
                    <a:pt x="1518855" y="1656929"/>
                    <a:pt x="1539176" y="165692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" name="Freeform 2"/>
          <p:cNvSpPr/>
          <p:nvPr/>
        </p:nvSpPr>
        <p:spPr>
          <a:xfrm rot="10284198" flipH="1">
            <a:off x="11429986" y="-3416142"/>
            <a:ext cx="7511977" cy="96991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7511977" y="0"/>
                </a:moveTo>
                <a:lnTo>
                  <a:pt x="0" y="0"/>
                </a:lnTo>
                <a:lnTo>
                  <a:pt x="0" y="9699131"/>
                </a:lnTo>
                <a:lnTo>
                  <a:pt x="7511977" y="9699131"/>
                </a:lnTo>
                <a:lnTo>
                  <a:pt x="75119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2629060"/>
            <a:ext cx="5985173" cy="7727790"/>
          </a:xfrm>
          <a:custGeom>
            <a:avLst/>
            <a:gdLst/>
            <a:ahLst/>
            <a:cxnLst/>
            <a:rect l="l" t="t" r="r" b="b"/>
            <a:pathLst>
              <a:path w="5985173" h="7727790">
                <a:moveTo>
                  <a:pt x="5985173" y="0"/>
                </a:moveTo>
                <a:lnTo>
                  <a:pt x="0" y="0"/>
                </a:lnTo>
                <a:lnTo>
                  <a:pt x="0" y="7727790"/>
                </a:lnTo>
                <a:lnTo>
                  <a:pt x="5985173" y="7727790"/>
                </a:lnTo>
                <a:lnTo>
                  <a:pt x="598517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0" y="0"/>
            <a:ext cx="2655819" cy="4132861"/>
          </a:xfrm>
          <a:custGeom>
            <a:avLst/>
            <a:gdLst/>
            <a:ahLst/>
            <a:cxnLst/>
            <a:rect l="l" t="t" r="r" b="b"/>
            <a:pathLst>
              <a:path w="2655819" h="4132861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105400" y="647700"/>
            <a:ext cx="9469755" cy="103441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US" altLang="en-GB" sz="6000" b="1" spc="300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Data Overview</a:t>
            </a:r>
            <a:endParaRPr lang="en-US" sz="6000" b="1" spc="300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057400" y="1599565"/>
            <a:ext cx="15681960" cy="16891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4480"/>
              </a:lnSpc>
            </a:pPr>
            <a:r>
              <a:rPr lang="en-US" altLang="en-GB" sz="2600" spc="27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196,086 records · 3,182 hospitals · 51 states · 2017</a:t>
            </a:r>
            <a:endParaRPr lang="en-US" altLang="en-GB" sz="2600" spc="279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pic>
        <p:nvPicPr>
          <p:cNvPr id="12" name="Picture 11" descr="EXL_Service_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73400" y="8877300"/>
            <a:ext cx="1395095" cy="515620"/>
          </a:xfrm>
          <a:prstGeom prst="rect">
            <a:avLst/>
          </a:prstGeom>
        </p:spPr>
      </p:pic>
      <p:sp>
        <p:nvSpPr>
          <p:cNvPr id="20" name="TextBox 13"/>
          <p:cNvSpPr txBox="1"/>
          <p:nvPr/>
        </p:nvSpPr>
        <p:spPr>
          <a:xfrm>
            <a:off x="13411200" y="1028700"/>
            <a:ext cx="2818765" cy="120523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1765"/>
              </a:lnSpc>
            </a:pPr>
            <a:endParaRPr lang="en-US" altLang="en-GB" sz="1400" u="none" strike="noStrik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8" name="Freeform 21"/>
          <p:cNvSpPr/>
          <p:nvPr/>
        </p:nvSpPr>
        <p:spPr>
          <a:xfrm rot="13620000" flipV="1">
            <a:off x="6082030" y="4886325"/>
            <a:ext cx="1039495" cy="1131570"/>
          </a:xfrm>
          <a:custGeom>
            <a:avLst/>
            <a:gdLst/>
            <a:ahLst/>
            <a:cxnLst/>
            <a:rect l="l" t="t" r="r" b="b"/>
            <a:pathLst>
              <a:path w="802634" h="832087">
                <a:moveTo>
                  <a:pt x="0" y="832087"/>
                </a:moveTo>
                <a:lnTo>
                  <a:pt x="802635" y="832087"/>
                </a:lnTo>
                <a:lnTo>
                  <a:pt x="802635" y="0"/>
                </a:lnTo>
                <a:lnTo>
                  <a:pt x="0" y="0"/>
                </a:lnTo>
                <a:lnTo>
                  <a:pt x="0" y="83208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53265"/>
            </a:stretch>
          </a:blipFill>
        </p:spPr>
        <p:txBody>
          <a:bodyPr/>
          <a:p>
            <a:endParaRPr lang="en-GB" altLang="en-US"/>
          </a:p>
        </p:txBody>
      </p:sp>
      <p:sp>
        <p:nvSpPr>
          <p:cNvPr id="29" name="Freeform 22"/>
          <p:cNvSpPr/>
          <p:nvPr/>
        </p:nvSpPr>
        <p:spPr>
          <a:xfrm rot="19740000" flipH="1" flipV="1">
            <a:off x="10010775" y="4091305"/>
            <a:ext cx="912495" cy="955675"/>
          </a:xfrm>
          <a:custGeom>
            <a:avLst/>
            <a:gdLst/>
            <a:ahLst/>
            <a:cxnLst/>
            <a:rect l="l" t="t" r="r" b="b"/>
            <a:pathLst>
              <a:path w="802634" h="832087">
                <a:moveTo>
                  <a:pt x="802634" y="832087"/>
                </a:moveTo>
                <a:lnTo>
                  <a:pt x="0" y="832087"/>
                </a:lnTo>
                <a:lnTo>
                  <a:pt x="0" y="0"/>
                </a:lnTo>
                <a:lnTo>
                  <a:pt x="802634" y="0"/>
                </a:lnTo>
                <a:lnTo>
                  <a:pt x="802634" y="83208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53265"/>
            </a:stretch>
          </a:blipFill>
        </p:spPr>
      </p:sp>
      <p:sp>
        <p:nvSpPr>
          <p:cNvPr id="38" name="TextBox 31"/>
          <p:cNvSpPr txBox="1"/>
          <p:nvPr/>
        </p:nvSpPr>
        <p:spPr>
          <a:xfrm>
            <a:off x="3124200" y="4457700"/>
            <a:ext cx="2637155" cy="200723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3895"/>
              </a:lnSpc>
              <a:spcBef>
                <a:spcPct val="0"/>
              </a:spcBef>
            </a:pPr>
            <a:r>
              <a:rPr lang="en-IN" altLang="en-US" sz="24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T2-DRG </a:t>
            </a:r>
            <a:r>
              <a:rPr lang="en-IN" altLang="en-US" sz="24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DETAILS</a:t>
            </a:r>
            <a:endParaRPr lang="en-IN" altLang="en-US" sz="240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  <a:p>
            <a:pPr marL="0" lvl="0" indent="0" algn="ctr">
              <a:lnSpc>
                <a:spcPts val="3895"/>
              </a:lnSpc>
              <a:spcBef>
                <a:spcPct val="0"/>
              </a:spcBef>
            </a:pPr>
            <a:r>
              <a:rPr lang="en-IN" altLang="en-US" sz="24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(Treatment Complexity)</a:t>
            </a:r>
            <a:endParaRPr lang="en-IN" altLang="en-US" sz="240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grpSp>
        <p:nvGrpSpPr>
          <p:cNvPr id="100" name="Group 15"/>
          <p:cNvGrpSpPr/>
          <p:nvPr/>
        </p:nvGrpSpPr>
        <p:grpSpPr>
          <a:xfrm rot="0">
            <a:off x="7315835" y="4000500"/>
            <a:ext cx="2952750" cy="3225800"/>
            <a:chOff x="0" y="0"/>
            <a:chExt cx="1598650" cy="1702650"/>
          </a:xfrm>
        </p:grpSpPr>
        <p:sp>
          <p:nvSpPr>
            <p:cNvPr id="101" name="Freeform 16"/>
            <p:cNvSpPr/>
            <p:nvPr/>
          </p:nvSpPr>
          <p:spPr>
            <a:xfrm>
              <a:off x="39982" y="45156"/>
              <a:ext cx="1558669" cy="1656788"/>
            </a:xfrm>
            <a:custGeom>
              <a:avLst/>
              <a:gdLst/>
              <a:ahLst/>
              <a:cxnLst/>
              <a:rect l="l" t="t" r="r" b="b"/>
              <a:pathLst>
                <a:path w="1558669" h="1656788">
                  <a:moveTo>
                    <a:pt x="658" y="1627013"/>
                  </a:moveTo>
                  <a:cubicBezTo>
                    <a:pt x="-1882" y="1635903"/>
                    <a:pt x="3198" y="1642253"/>
                    <a:pt x="11284" y="1643523"/>
                  </a:cubicBezTo>
                  <a:cubicBezTo>
                    <a:pt x="20507" y="1644793"/>
                    <a:pt x="28576" y="1644793"/>
                    <a:pt x="37799" y="1644793"/>
                  </a:cubicBezTo>
                  <a:cubicBezTo>
                    <a:pt x="74689" y="1646063"/>
                    <a:pt x="111580" y="1646063"/>
                    <a:pt x="149623" y="1647334"/>
                  </a:cubicBezTo>
                  <a:cubicBezTo>
                    <a:pt x="170374" y="1648603"/>
                    <a:pt x="191125" y="1649873"/>
                    <a:pt x="210723" y="1651143"/>
                  </a:cubicBezTo>
                  <a:cubicBezTo>
                    <a:pt x="245307" y="1652413"/>
                    <a:pt x="278739" y="1652413"/>
                    <a:pt x="313324" y="1653684"/>
                  </a:cubicBezTo>
                  <a:cubicBezTo>
                    <a:pt x="327158" y="1653684"/>
                    <a:pt x="339839" y="1653684"/>
                    <a:pt x="353673" y="1652413"/>
                  </a:cubicBezTo>
                  <a:cubicBezTo>
                    <a:pt x="359437" y="1652413"/>
                    <a:pt x="366354" y="1651143"/>
                    <a:pt x="372118" y="1651143"/>
                  </a:cubicBezTo>
                  <a:cubicBezTo>
                    <a:pt x="395174" y="1652413"/>
                    <a:pt x="856304" y="1643523"/>
                    <a:pt x="879360" y="1644793"/>
                  </a:cubicBezTo>
                  <a:cubicBezTo>
                    <a:pt x="911639" y="1646063"/>
                    <a:pt x="1000407" y="1646063"/>
                    <a:pt x="1032685" y="1646063"/>
                  </a:cubicBezTo>
                  <a:cubicBezTo>
                    <a:pt x="1045367" y="1646063"/>
                    <a:pt x="1056895" y="1644793"/>
                    <a:pt x="1069576" y="1644793"/>
                  </a:cubicBezTo>
                  <a:lnTo>
                    <a:pt x="1131828" y="1648603"/>
                  </a:lnTo>
                  <a:cubicBezTo>
                    <a:pt x="1176788" y="1651143"/>
                    <a:pt x="1220596" y="1648603"/>
                    <a:pt x="1265556" y="1652413"/>
                  </a:cubicBezTo>
                  <a:cubicBezTo>
                    <a:pt x="1340489" y="1657493"/>
                    <a:pt x="1416576" y="1651143"/>
                    <a:pt x="1495168" y="1656223"/>
                  </a:cubicBezTo>
                  <a:cubicBezTo>
                    <a:pt x="1515489" y="1657493"/>
                    <a:pt x="1535808" y="1656223"/>
                    <a:pt x="1558668" y="1656223"/>
                  </a:cubicBezTo>
                  <a:lnTo>
                    <a:pt x="1558668" y="1596534"/>
                  </a:lnTo>
                  <a:cubicBezTo>
                    <a:pt x="1557398" y="1532636"/>
                    <a:pt x="1556129" y="1473144"/>
                    <a:pt x="1556129" y="1409934"/>
                  </a:cubicBezTo>
                  <a:cubicBezTo>
                    <a:pt x="1556129" y="1336808"/>
                    <a:pt x="1559939" y="1262443"/>
                    <a:pt x="1553589" y="1189317"/>
                  </a:cubicBezTo>
                  <a:cubicBezTo>
                    <a:pt x="1545968" y="1140980"/>
                    <a:pt x="1534539" y="187866"/>
                    <a:pt x="1534539" y="139529"/>
                  </a:cubicBezTo>
                  <a:cubicBezTo>
                    <a:pt x="1531998" y="106065"/>
                    <a:pt x="1530729" y="71361"/>
                    <a:pt x="1528189" y="37897"/>
                  </a:cubicBezTo>
                  <a:cubicBezTo>
                    <a:pt x="1528189" y="27981"/>
                    <a:pt x="1526918" y="18066"/>
                    <a:pt x="1525648" y="5644"/>
                  </a:cubicBezTo>
                  <a:cubicBezTo>
                    <a:pt x="1515489" y="3104"/>
                    <a:pt x="1506598" y="1834"/>
                    <a:pt x="1496439" y="564"/>
                  </a:cubicBezTo>
                  <a:cubicBezTo>
                    <a:pt x="1488818" y="-706"/>
                    <a:pt x="1481198" y="564"/>
                    <a:pt x="1474848" y="564"/>
                  </a:cubicBezTo>
                  <a:lnTo>
                    <a:pt x="5520" y="5644"/>
                  </a:lnTo>
                  <a:lnTo>
                    <a:pt x="658" y="1627013"/>
                  </a:lnTo>
                  <a:close/>
                </a:path>
              </a:pathLst>
            </a:custGeom>
            <a:solidFill>
              <a:srgbClr val="FCFCF8"/>
            </a:solidFill>
          </p:spPr>
        </p:sp>
        <p:sp>
          <p:nvSpPr>
            <p:cNvPr id="102" name="Freeform 17"/>
            <p:cNvSpPr/>
            <p:nvPr/>
          </p:nvSpPr>
          <p:spPr>
            <a:xfrm>
              <a:off x="11430" y="16510"/>
              <a:ext cx="1537691" cy="1648040"/>
            </a:xfrm>
            <a:custGeom>
              <a:avLst/>
              <a:gdLst/>
              <a:ahLst/>
              <a:cxnLst/>
              <a:rect l="l" t="t" r="r" b="b"/>
              <a:pathLst>
                <a:path w="1537691" h="1648040">
                  <a:moveTo>
                    <a:pt x="1537691" y="1648040"/>
                  </a:moveTo>
                  <a:lnTo>
                    <a:pt x="0" y="1640419"/>
                  </a:lnTo>
                  <a:lnTo>
                    <a:pt x="0" y="584620"/>
                  </a:lnTo>
                  <a:lnTo>
                    <a:pt x="7620" y="20320"/>
                  </a:lnTo>
                  <a:lnTo>
                    <a:pt x="763809" y="0"/>
                  </a:lnTo>
                  <a:lnTo>
                    <a:pt x="1516101" y="8890"/>
                  </a:lnTo>
                  <a:close/>
                </a:path>
              </a:pathLst>
            </a:custGeom>
            <a:solidFill>
              <a:schemeClr val="accent6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03" name="Freeform 18"/>
            <p:cNvSpPr/>
            <p:nvPr/>
          </p:nvSpPr>
          <p:spPr>
            <a:xfrm>
              <a:off x="-215" y="0"/>
              <a:ext cx="1562035" cy="1674004"/>
            </a:xfrm>
            <a:custGeom>
              <a:avLst/>
              <a:gdLst/>
              <a:ahLst/>
              <a:cxnLst/>
              <a:rect l="l" t="t" r="r" b="b"/>
              <a:pathLst>
                <a:path w="1562035" h="1674004">
                  <a:moveTo>
                    <a:pt x="1529015" y="21590"/>
                  </a:moveTo>
                  <a:cubicBezTo>
                    <a:pt x="1530286" y="34290"/>
                    <a:pt x="1530286" y="44450"/>
                    <a:pt x="1531555" y="54546"/>
                  </a:cubicBezTo>
                  <a:cubicBezTo>
                    <a:pt x="1534095" y="88010"/>
                    <a:pt x="1535365" y="122714"/>
                    <a:pt x="1537905" y="156179"/>
                  </a:cubicBezTo>
                  <a:cubicBezTo>
                    <a:pt x="1537905" y="204516"/>
                    <a:pt x="1550605" y="1157629"/>
                    <a:pt x="1556955" y="1205967"/>
                  </a:cubicBezTo>
                  <a:cubicBezTo>
                    <a:pt x="1563305" y="1279092"/>
                    <a:pt x="1559495" y="1353458"/>
                    <a:pt x="1559495" y="1426583"/>
                  </a:cubicBezTo>
                  <a:cubicBezTo>
                    <a:pt x="1559495" y="1491033"/>
                    <a:pt x="1560765" y="1550525"/>
                    <a:pt x="1562036" y="1613749"/>
                  </a:cubicBezTo>
                  <a:lnTo>
                    <a:pt x="1562036" y="1673440"/>
                  </a:lnTo>
                  <a:cubicBezTo>
                    <a:pt x="1539176" y="1673440"/>
                    <a:pt x="1518855" y="1674709"/>
                    <a:pt x="1498536" y="1673440"/>
                  </a:cubicBezTo>
                  <a:cubicBezTo>
                    <a:pt x="1423341" y="1668359"/>
                    <a:pt x="1347254" y="1674709"/>
                    <a:pt x="1272321" y="1669629"/>
                  </a:cubicBezTo>
                  <a:cubicBezTo>
                    <a:pt x="1227361" y="1665819"/>
                    <a:pt x="1183554" y="1668359"/>
                    <a:pt x="1138593" y="1665819"/>
                  </a:cubicBezTo>
                  <a:lnTo>
                    <a:pt x="1076341" y="1662009"/>
                  </a:lnTo>
                  <a:cubicBezTo>
                    <a:pt x="1063660" y="1662009"/>
                    <a:pt x="1052132" y="1663279"/>
                    <a:pt x="1039451" y="1663279"/>
                  </a:cubicBezTo>
                  <a:cubicBezTo>
                    <a:pt x="1007172" y="1662009"/>
                    <a:pt x="918404" y="1663279"/>
                    <a:pt x="886125" y="1662009"/>
                  </a:cubicBezTo>
                  <a:cubicBezTo>
                    <a:pt x="863069" y="1660740"/>
                    <a:pt x="401939" y="1669629"/>
                    <a:pt x="378883" y="1668359"/>
                  </a:cubicBezTo>
                  <a:cubicBezTo>
                    <a:pt x="373119" y="1668359"/>
                    <a:pt x="366202" y="1669629"/>
                    <a:pt x="360438" y="1669629"/>
                  </a:cubicBezTo>
                  <a:cubicBezTo>
                    <a:pt x="346604" y="1669629"/>
                    <a:pt x="333923" y="1670899"/>
                    <a:pt x="320089" y="1670899"/>
                  </a:cubicBezTo>
                  <a:cubicBezTo>
                    <a:pt x="285504" y="1670899"/>
                    <a:pt x="252072" y="1669629"/>
                    <a:pt x="217488" y="1668359"/>
                  </a:cubicBezTo>
                  <a:cubicBezTo>
                    <a:pt x="196737" y="1667090"/>
                    <a:pt x="175986" y="1665819"/>
                    <a:pt x="156388" y="1664549"/>
                  </a:cubicBezTo>
                  <a:cubicBezTo>
                    <a:pt x="119498" y="1663279"/>
                    <a:pt x="82607" y="1662009"/>
                    <a:pt x="44564" y="1662009"/>
                  </a:cubicBezTo>
                  <a:cubicBezTo>
                    <a:pt x="34505" y="1662009"/>
                    <a:pt x="25615" y="1662009"/>
                    <a:pt x="15455" y="1660740"/>
                  </a:cubicBezTo>
                  <a:cubicBezTo>
                    <a:pt x="6565" y="1659469"/>
                    <a:pt x="1485" y="1653119"/>
                    <a:pt x="4025" y="1644229"/>
                  </a:cubicBezTo>
                  <a:cubicBezTo>
                    <a:pt x="12915" y="1612496"/>
                    <a:pt x="9105" y="1581511"/>
                    <a:pt x="7835" y="1549286"/>
                  </a:cubicBezTo>
                  <a:cubicBezTo>
                    <a:pt x="6565" y="1483597"/>
                    <a:pt x="2755" y="1419147"/>
                    <a:pt x="4025" y="1353458"/>
                  </a:cubicBezTo>
                  <a:cubicBezTo>
                    <a:pt x="1485" y="1271656"/>
                    <a:pt x="-3595" y="259050"/>
                    <a:pt x="4025" y="176009"/>
                  </a:cubicBezTo>
                  <a:cubicBezTo>
                    <a:pt x="5295" y="159897"/>
                    <a:pt x="4025" y="142545"/>
                    <a:pt x="5295" y="126432"/>
                  </a:cubicBezTo>
                  <a:cubicBezTo>
                    <a:pt x="6565" y="100405"/>
                    <a:pt x="9105" y="71898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3787" y="30480"/>
                    <a:pt x="72232" y="29210"/>
                  </a:cubicBezTo>
                  <a:cubicBezTo>
                    <a:pt x="103358" y="25400"/>
                    <a:pt x="134484" y="22860"/>
                    <a:pt x="166763" y="20320"/>
                  </a:cubicBezTo>
                  <a:cubicBezTo>
                    <a:pt x="188667" y="17780"/>
                    <a:pt x="210571" y="16510"/>
                    <a:pt x="231322" y="13970"/>
                  </a:cubicBezTo>
                  <a:cubicBezTo>
                    <a:pt x="252072" y="11430"/>
                    <a:pt x="273976" y="8890"/>
                    <a:pt x="294727" y="8890"/>
                  </a:cubicBezTo>
                  <a:cubicBezTo>
                    <a:pt x="317783" y="7620"/>
                    <a:pt x="340840" y="10160"/>
                    <a:pt x="363896" y="8890"/>
                  </a:cubicBezTo>
                  <a:cubicBezTo>
                    <a:pt x="392717" y="8890"/>
                    <a:pt x="914946" y="6350"/>
                    <a:pt x="943766" y="5080"/>
                  </a:cubicBezTo>
                  <a:cubicBezTo>
                    <a:pt x="971434" y="3810"/>
                    <a:pt x="999102" y="2540"/>
                    <a:pt x="1027922" y="2540"/>
                  </a:cubicBezTo>
                  <a:cubicBezTo>
                    <a:pt x="1075188" y="1270"/>
                    <a:pt x="1121301" y="0"/>
                    <a:pt x="1168567" y="0"/>
                  </a:cubicBezTo>
                  <a:cubicBezTo>
                    <a:pt x="1188165" y="0"/>
                    <a:pt x="1208916" y="2540"/>
                    <a:pt x="1228514" y="2540"/>
                  </a:cubicBezTo>
                  <a:cubicBezTo>
                    <a:pt x="1282696" y="3810"/>
                    <a:pt x="1338032" y="5080"/>
                    <a:pt x="1392215" y="7620"/>
                  </a:cubicBezTo>
                  <a:cubicBezTo>
                    <a:pt x="1421035" y="8890"/>
                    <a:pt x="1449856" y="12700"/>
                    <a:pt x="1478676" y="16510"/>
                  </a:cubicBezTo>
                  <a:lnTo>
                    <a:pt x="1498536" y="16510"/>
                  </a:lnTo>
                  <a:cubicBezTo>
                    <a:pt x="1509965" y="17780"/>
                    <a:pt x="1518855" y="20320"/>
                    <a:pt x="1529015" y="21590"/>
                  </a:cubicBezTo>
                  <a:close/>
                  <a:moveTo>
                    <a:pt x="1539176" y="1656929"/>
                  </a:moveTo>
                  <a:cubicBezTo>
                    <a:pt x="1540445" y="1640419"/>
                    <a:pt x="1541715" y="1627719"/>
                    <a:pt x="1541715" y="1615019"/>
                  </a:cubicBezTo>
                  <a:cubicBezTo>
                    <a:pt x="1540445" y="1544328"/>
                    <a:pt x="1539176" y="1478639"/>
                    <a:pt x="1539176" y="1407992"/>
                  </a:cubicBezTo>
                  <a:cubicBezTo>
                    <a:pt x="1539176" y="1375767"/>
                    <a:pt x="1541715" y="1343542"/>
                    <a:pt x="1540445" y="1311317"/>
                  </a:cubicBezTo>
                  <a:cubicBezTo>
                    <a:pt x="1540445" y="1281571"/>
                    <a:pt x="1539176" y="1250586"/>
                    <a:pt x="1537905" y="1220840"/>
                  </a:cubicBezTo>
                  <a:cubicBezTo>
                    <a:pt x="1532826" y="1174981"/>
                    <a:pt x="1521395" y="225586"/>
                    <a:pt x="1521395" y="179727"/>
                  </a:cubicBezTo>
                  <a:cubicBezTo>
                    <a:pt x="1518855" y="141306"/>
                    <a:pt x="1516315" y="101644"/>
                    <a:pt x="1513776" y="63222"/>
                  </a:cubicBezTo>
                  <a:cubicBezTo>
                    <a:pt x="1512505" y="44450"/>
                    <a:pt x="1511236" y="43180"/>
                    <a:pt x="1494816" y="41910"/>
                  </a:cubicBezTo>
                  <a:cubicBezTo>
                    <a:pt x="1491357" y="41910"/>
                    <a:pt x="1489052" y="41910"/>
                    <a:pt x="1485593" y="40640"/>
                  </a:cubicBezTo>
                  <a:cubicBezTo>
                    <a:pt x="1456773" y="36830"/>
                    <a:pt x="1426799" y="31750"/>
                    <a:pt x="1397979" y="30480"/>
                  </a:cubicBezTo>
                  <a:cubicBezTo>
                    <a:pt x="1327656" y="26670"/>
                    <a:pt x="1256181" y="25400"/>
                    <a:pt x="1185859" y="22860"/>
                  </a:cubicBezTo>
                  <a:lnTo>
                    <a:pt x="1102856" y="22860"/>
                  </a:lnTo>
                  <a:cubicBezTo>
                    <a:pt x="1065966" y="22860"/>
                    <a:pt x="1029075" y="22860"/>
                    <a:pt x="993338" y="24130"/>
                  </a:cubicBezTo>
                  <a:cubicBezTo>
                    <a:pt x="962212" y="25400"/>
                    <a:pt x="437677" y="29210"/>
                    <a:pt x="406551" y="29210"/>
                  </a:cubicBezTo>
                  <a:cubicBezTo>
                    <a:pt x="355826" y="29210"/>
                    <a:pt x="305102" y="26670"/>
                    <a:pt x="254378" y="33020"/>
                  </a:cubicBezTo>
                  <a:cubicBezTo>
                    <a:pt x="227863" y="36830"/>
                    <a:pt x="202501" y="36830"/>
                    <a:pt x="177139" y="38100"/>
                  </a:cubicBezTo>
                  <a:cubicBezTo>
                    <a:pt x="133332" y="41910"/>
                    <a:pt x="89524" y="45720"/>
                    <a:pt x="45717" y="50800"/>
                  </a:cubicBezTo>
                  <a:cubicBezTo>
                    <a:pt x="33235" y="50800"/>
                    <a:pt x="30695" y="53307"/>
                    <a:pt x="29425" y="68180"/>
                  </a:cubicBezTo>
                  <a:cubicBezTo>
                    <a:pt x="28155" y="90489"/>
                    <a:pt x="28155" y="112799"/>
                    <a:pt x="26885" y="135108"/>
                  </a:cubicBezTo>
                  <a:cubicBezTo>
                    <a:pt x="25615" y="172291"/>
                    <a:pt x="23075" y="208234"/>
                    <a:pt x="21805" y="245417"/>
                  </a:cubicBezTo>
                  <a:cubicBezTo>
                    <a:pt x="16725" y="285078"/>
                    <a:pt x="23075" y="1254304"/>
                    <a:pt x="25615" y="1293965"/>
                  </a:cubicBezTo>
                  <a:cubicBezTo>
                    <a:pt x="25615" y="1336106"/>
                    <a:pt x="25615" y="1379485"/>
                    <a:pt x="26885" y="1421626"/>
                  </a:cubicBezTo>
                  <a:cubicBezTo>
                    <a:pt x="26885" y="1452611"/>
                    <a:pt x="29425" y="1483597"/>
                    <a:pt x="29425" y="1514582"/>
                  </a:cubicBezTo>
                  <a:cubicBezTo>
                    <a:pt x="29425" y="1548046"/>
                    <a:pt x="29425" y="1581511"/>
                    <a:pt x="28155" y="1615019"/>
                  </a:cubicBezTo>
                  <a:lnTo>
                    <a:pt x="28155" y="1625179"/>
                  </a:lnTo>
                  <a:cubicBezTo>
                    <a:pt x="28155" y="1635340"/>
                    <a:pt x="31965" y="1639150"/>
                    <a:pt x="40855" y="1639150"/>
                  </a:cubicBezTo>
                  <a:cubicBezTo>
                    <a:pt x="56092" y="1639150"/>
                    <a:pt x="72232" y="1640419"/>
                    <a:pt x="87219" y="1640419"/>
                  </a:cubicBezTo>
                  <a:cubicBezTo>
                    <a:pt x="109122" y="1640419"/>
                    <a:pt x="132179" y="1637879"/>
                    <a:pt x="154082" y="1640419"/>
                  </a:cubicBezTo>
                  <a:cubicBezTo>
                    <a:pt x="189820" y="1644229"/>
                    <a:pt x="225557" y="1646769"/>
                    <a:pt x="261295" y="1645500"/>
                  </a:cubicBezTo>
                  <a:cubicBezTo>
                    <a:pt x="284351" y="1644229"/>
                    <a:pt x="306255" y="1646769"/>
                    <a:pt x="329312" y="1646769"/>
                  </a:cubicBezTo>
                  <a:cubicBezTo>
                    <a:pt x="362743" y="1646769"/>
                    <a:pt x="396175" y="1645500"/>
                    <a:pt x="429607" y="1646769"/>
                  </a:cubicBezTo>
                  <a:cubicBezTo>
                    <a:pt x="479179" y="1648040"/>
                    <a:pt x="1023311" y="1637879"/>
                    <a:pt x="1074035" y="1640419"/>
                  </a:cubicBezTo>
                  <a:cubicBezTo>
                    <a:pt x="1095939" y="1641690"/>
                    <a:pt x="1117843" y="1642960"/>
                    <a:pt x="1138593" y="1642960"/>
                  </a:cubicBezTo>
                  <a:cubicBezTo>
                    <a:pt x="1176637" y="1645500"/>
                    <a:pt x="1213527" y="1641690"/>
                    <a:pt x="1251570" y="1645500"/>
                  </a:cubicBezTo>
                  <a:cubicBezTo>
                    <a:pt x="1282696" y="1648040"/>
                    <a:pt x="1313823" y="1648040"/>
                    <a:pt x="1344949" y="1650579"/>
                  </a:cubicBezTo>
                  <a:cubicBezTo>
                    <a:pt x="1391062" y="1654390"/>
                    <a:pt x="1437175" y="1656929"/>
                    <a:pt x="1483288" y="1658200"/>
                  </a:cubicBezTo>
                  <a:cubicBezTo>
                    <a:pt x="1501076" y="1658200"/>
                    <a:pt x="1518855" y="1656929"/>
                    <a:pt x="1539176" y="165692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8" name="Group 15"/>
          <p:cNvGrpSpPr/>
          <p:nvPr/>
        </p:nvGrpSpPr>
        <p:grpSpPr>
          <a:xfrm rot="0">
            <a:off x="13655514" y="4002827"/>
            <a:ext cx="2952750" cy="3144839"/>
            <a:chOff x="0" y="0"/>
            <a:chExt cx="1598650" cy="1702650"/>
          </a:xfrm>
        </p:grpSpPr>
        <p:sp>
          <p:nvSpPr>
            <p:cNvPr id="109" name="Freeform 16"/>
            <p:cNvSpPr/>
            <p:nvPr/>
          </p:nvSpPr>
          <p:spPr>
            <a:xfrm>
              <a:off x="39982" y="45156"/>
              <a:ext cx="1558669" cy="1656788"/>
            </a:xfrm>
            <a:custGeom>
              <a:avLst/>
              <a:gdLst/>
              <a:ahLst/>
              <a:cxnLst/>
              <a:rect l="l" t="t" r="r" b="b"/>
              <a:pathLst>
                <a:path w="1558669" h="1656788">
                  <a:moveTo>
                    <a:pt x="658" y="1627013"/>
                  </a:moveTo>
                  <a:cubicBezTo>
                    <a:pt x="-1882" y="1635903"/>
                    <a:pt x="3198" y="1642253"/>
                    <a:pt x="11284" y="1643523"/>
                  </a:cubicBezTo>
                  <a:cubicBezTo>
                    <a:pt x="20507" y="1644793"/>
                    <a:pt x="28576" y="1644793"/>
                    <a:pt x="37799" y="1644793"/>
                  </a:cubicBezTo>
                  <a:cubicBezTo>
                    <a:pt x="74689" y="1646063"/>
                    <a:pt x="111580" y="1646063"/>
                    <a:pt x="149623" y="1647334"/>
                  </a:cubicBezTo>
                  <a:cubicBezTo>
                    <a:pt x="170374" y="1648603"/>
                    <a:pt x="191125" y="1649873"/>
                    <a:pt x="210723" y="1651143"/>
                  </a:cubicBezTo>
                  <a:cubicBezTo>
                    <a:pt x="245307" y="1652413"/>
                    <a:pt x="278739" y="1652413"/>
                    <a:pt x="313324" y="1653684"/>
                  </a:cubicBezTo>
                  <a:cubicBezTo>
                    <a:pt x="327158" y="1653684"/>
                    <a:pt x="339839" y="1653684"/>
                    <a:pt x="353673" y="1652413"/>
                  </a:cubicBezTo>
                  <a:cubicBezTo>
                    <a:pt x="359437" y="1652413"/>
                    <a:pt x="366354" y="1651143"/>
                    <a:pt x="372118" y="1651143"/>
                  </a:cubicBezTo>
                  <a:cubicBezTo>
                    <a:pt x="395174" y="1652413"/>
                    <a:pt x="856304" y="1643523"/>
                    <a:pt x="879360" y="1644793"/>
                  </a:cubicBezTo>
                  <a:cubicBezTo>
                    <a:pt x="911639" y="1646063"/>
                    <a:pt x="1000407" y="1646063"/>
                    <a:pt x="1032685" y="1646063"/>
                  </a:cubicBezTo>
                  <a:cubicBezTo>
                    <a:pt x="1045367" y="1646063"/>
                    <a:pt x="1056895" y="1644793"/>
                    <a:pt x="1069576" y="1644793"/>
                  </a:cubicBezTo>
                  <a:lnTo>
                    <a:pt x="1131828" y="1648603"/>
                  </a:lnTo>
                  <a:cubicBezTo>
                    <a:pt x="1176788" y="1651143"/>
                    <a:pt x="1220596" y="1648603"/>
                    <a:pt x="1265556" y="1652413"/>
                  </a:cubicBezTo>
                  <a:cubicBezTo>
                    <a:pt x="1340489" y="1657493"/>
                    <a:pt x="1416576" y="1651143"/>
                    <a:pt x="1495168" y="1656223"/>
                  </a:cubicBezTo>
                  <a:cubicBezTo>
                    <a:pt x="1515489" y="1657493"/>
                    <a:pt x="1535808" y="1656223"/>
                    <a:pt x="1558668" y="1656223"/>
                  </a:cubicBezTo>
                  <a:lnTo>
                    <a:pt x="1558668" y="1596534"/>
                  </a:lnTo>
                  <a:cubicBezTo>
                    <a:pt x="1557398" y="1532636"/>
                    <a:pt x="1556129" y="1473144"/>
                    <a:pt x="1556129" y="1409934"/>
                  </a:cubicBezTo>
                  <a:cubicBezTo>
                    <a:pt x="1556129" y="1336808"/>
                    <a:pt x="1559939" y="1262443"/>
                    <a:pt x="1553589" y="1189317"/>
                  </a:cubicBezTo>
                  <a:cubicBezTo>
                    <a:pt x="1545968" y="1140980"/>
                    <a:pt x="1534539" y="187866"/>
                    <a:pt x="1534539" y="139529"/>
                  </a:cubicBezTo>
                  <a:cubicBezTo>
                    <a:pt x="1531998" y="106065"/>
                    <a:pt x="1530729" y="71361"/>
                    <a:pt x="1528189" y="37897"/>
                  </a:cubicBezTo>
                  <a:cubicBezTo>
                    <a:pt x="1528189" y="27981"/>
                    <a:pt x="1526918" y="18066"/>
                    <a:pt x="1525648" y="5644"/>
                  </a:cubicBezTo>
                  <a:cubicBezTo>
                    <a:pt x="1515489" y="3104"/>
                    <a:pt x="1506598" y="1834"/>
                    <a:pt x="1496439" y="564"/>
                  </a:cubicBezTo>
                  <a:cubicBezTo>
                    <a:pt x="1488818" y="-706"/>
                    <a:pt x="1481198" y="564"/>
                    <a:pt x="1474848" y="564"/>
                  </a:cubicBezTo>
                  <a:lnTo>
                    <a:pt x="5520" y="5644"/>
                  </a:lnTo>
                  <a:lnTo>
                    <a:pt x="658" y="1627013"/>
                  </a:lnTo>
                  <a:close/>
                </a:path>
              </a:pathLst>
            </a:custGeom>
            <a:solidFill>
              <a:srgbClr val="FCFCF8"/>
            </a:solidFill>
          </p:spPr>
        </p:sp>
        <p:sp>
          <p:nvSpPr>
            <p:cNvPr id="110" name="Freeform 17"/>
            <p:cNvSpPr/>
            <p:nvPr/>
          </p:nvSpPr>
          <p:spPr>
            <a:xfrm>
              <a:off x="11430" y="16510"/>
              <a:ext cx="1537691" cy="1648040"/>
            </a:xfrm>
            <a:custGeom>
              <a:avLst/>
              <a:gdLst/>
              <a:ahLst/>
              <a:cxnLst/>
              <a:rect l="l" t="t" r="r" b="b"/>
              <a:pathLst>
                <a:path w="1537691" h="1648040">
                  <a:moveTo>
                    <a:pt x="1537691" y="1648040"/>
                  </a:moveTo>
                  <a:lnTo>
                    <a:pt x="0" y="1640419"/>
                  </a:lnTo>
                  <a:lnTo>
                    <a:pt x="0" y="584620"/>
                  </a:lnTo>
                  <a:lnTo>
                    <a:pt x="7620" y="20320"/>
                  </a:lnTo>
                  <a:lnTo>
                    <a:pt x="763809" y="0"/>
                  </a:lnTo>
                  <a:lnTo>
                    <a:pt x="1516101" y="8890"/>
                  </a:lnTo>
                  <a:close/>
                </a:path>
              </a:pathLst>
            </a:custGeom>
            <a:solidFill>
              <a:schemeClr val="accent6"/>
            </a:solidFill>
          </p:spPr>
          <p:txBody>
            <a:bodyPr/>
            <a:p>
              <a:endParaRPr lang="en-GB" altLang="en-US"/>
            </a:p>
          </p:txBody>
        </p:sp>
        <p:sp>
          <p:nvSpPr>
            <p:cNvPr id="111" name="Freeform 18"/>
            <p:cNvSpPr/>
            <p:nvPr/>
          </p:nvSpPr>
          <p:spPr>
            <a:xfrm>
              <a:off x="-215" y="0"/>
              <a:ext cx="1562035" cy="1674004"/>
            </a:xfrm>
            <a:custGeom>
              <a:avLst/>
              <a:gdLst/>
              <a:ahLst/>
              <a:cxnLst/>
              <a:rect l="l" t="t" r="r" b="b"/>
              <a:pathLst>
                <a:path w="1562035" h="1674004">
                  <a:moveTo>
                    <a:pt x="1529015" y="21590"/>
                  </a:moveTo>
                  <a:cubicBezTo>
                    <a:pt x="1530286" y="34290"/>
                    <a:pt x="1530286" y="44450"/>
                    <a:pt x="1531555" y="54546"/>
                  </a:cubicBezTo>
                  <a:cubicBezTo>
                    <a:pt x="1534095" y="88010"/>
                    <a:pt x="1535365" y="122714"/>
                    <a:pt x="1537905" y="156179"/>
                  </a:cubicBezTo>
                  <a:cubicBezTo>
                    <a:pt x="1537905" y="204516"/>
                    <a:pt x="1550605" y="1157629"/>
                    <a:pt x="1556955" y="1205967"/>
                  </a:cubicBezTo>
                  <a:cubicBezTo>
                    <a:pt x="1563305" y="1279092"/>
                    <a:pt x="1559495" y="1353458"/>
                    <a:pt x="1559495" y="1426583"/>
                  </a:cubicBezTo>
                  <a:cubicBezTo>
                    <a:pt x="1559495" y="1491033"/>
                    <a:pt x="1560765" y="1550525"/>
                    <a:pt x="1562036" y="1613749"/>
                  </a:cubicBezTo>
                  <a:lnTo>
                    <a:pt x="1562036" y="1673440"/>
                  </a:lnTo>
                  <a:cubicBezTo>
                    <a:pt x="1539176" y="1673440"/>
                    <a:pt x="1518855" y="1674709"/>
                    <a:pt x="1498536" y="1673440"/>
                  </a:cubicBezTo>
                  <a:cubicBezTo>
                    <a:pt x="1423341" y="1668359"/>
                    <a:pt x="1347254" y="1674709"/>
                    <a:pt x="1272321" y="1669629"/>
                  </a:cubicBezTo>
                  <a:cubicBezTo>
                    <a:pt x="1227361" y="1665819"/>
                    <a:pt x="1183554" y="1668359"/>
                    <a:pt x="1138593" y="1665819"/>
                  </a:cubicBezTo>
                  <a:lnTo>
                    <a:pt x="1076341" y="1662009"/>
                  </a:lnTo>
                  <a:cubicBezTo>
                    <a:pt x="1063660" y="1662009"/>
                    <a:pt x="1052132" y="1663279"/>
                    <a:pt x="1039451" y="1663279"/>
                  </a:cubicBezTo>
                  <a:cubicBezTo>
                    <a:pt x="1007172" y="1662009"/>
                    <a:pt x="918404" y="1663279"/>
                    <a:pt x="886125" y="1662009"/>
                  </a:cubicBezTo>
                  <a:cubicBezTo>
                    <a:pt x="863069" y="1660740"/>
                    <a:pt x="401939" y="1669629"/>
                    <a:pt x="378883" y="1668359"/>
                  </a:cubicBezTo>
                  <a:cubicBezTo>
                    <a:pt x="373119" y="1668359"/>
                    <a:pt x="366202" y="1669629"/>
                    <a:pt x="360438" y="1669629"/>
                  </a:cubicBezTo>
                  <a:cubicBezTo>
                    <a:pt x="346604" y="1669629"/>
                    <a:pt x="333923" y="1670899"/>
                    <a:pt x="320089" y="1670899"/>
                  </a:cubicBezTo>
                  <a:cubicBezTo>
                    <a:pt x="285504" y="1670899"/>
                    <a:pt x="252072" y="1669629"/>
                    <a:pt x="217488" y="1668359"/>
                  </a:cubicBezTo>
                  <a:cubicBezTo>
                    <a:pt x="196737" y="1667090"/>
                    <a:pt x="175986" y="1665819"/>
                    <a:pt x="156388" y="1664549"/>
                  </a:cubicBezTo>
                  <a:cubicBezTo>
                    <a:pt x="119498" y="1663279"/>
                    <a:pt x="82607" y="1662009"/>
                    <a:pt x="44564" y="1662009"/>
                  </a:cubicBezTo>
                  <a:cubicBezTo>
                    <a:pt x="34505" y="1662009"/>
                    <a:pt x="25615" y="1662009"/>
                    <a:pt x="15455" y="1660740"/>
                  </a:cubicBezTo>
                  <a:cubicBezTo>
                    <a:pt x="6565" y="1659469"/>
                    <a:pt x="1485" y="1653119"/>
                    <a:pt x="4025" y="1644229"/>
                  </a:cubicBezTo>
                  <a:cubicBezTo>
                    <a:pt x="12915" y="1612496"/>
                    <a:pt x="9105" y="1581511"/>
                    <a:pt x="7835" y="1549286"/>
                  </a:cubicBezTo>
                  <a:cubicBezTo>
                    <a:pt x="6565" y="1483597"/>
                    <a:pt x="2755" y="1419147"/>
                    <a:pt x="4025" y="1353458"/>
                  </a:cubicBezTo>
                  <a:cubicBezTo>
                    <a:pt x="1485" y="1271656"/>
                    <a:pt x="-3595" y="259050"/>
                    <a:pt x="4025" y="176009"/>
                  </a:cubicBezTo>
                  <a:cubicBezTo>
                    <a:pt x="5295" y="159897"/>
                    <a:pt x="4025" y="142545"/>
                    <a:pt x="5295" y="126432"/>
                  </a:cubicBezTo>
                  <a:cubicBezTo>
                    <a:pt x="6565" y="100405"/>
                    <a:pt x="9105" y="71898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3787" y="30480"/>
                    <a:pt x="72232" y="29210"/>
                  </a:cubicBezTo>
                  <a:cubicBezTo>
                    <a:pt x="103358" y="25400"/>
                    <a:pt x="134484" y="22860"/>
                    <a:pt x="166763" y="20320"/>
                  </a:cubicBezTo>
                  <a:cubicBezTo>
                    <a:pt x="188667" y="17780"/>
                    <a:pt x="210571" y="16510"/>
                    <a:pt x="231322" y="13970"/>
                  </a:cubicBezTo>
                  <a:cubicBezTo>
                    <a:pt x="252072" y="11430"/>
                    <a:pt x="273976" y="8890"/>
                    <a:pt x="294727" y="8890"/>
                  </a:cubicBezTo>
                  <a:cubicBezTo>
                    <a:pt x="317783" y="7620"/>
                    <a:pt x="340840" y="10160"/>
                    <a:pt x="363896" y="8890"/>
                  </a:cubicBezTo>
                  <a:cubicBezTo>
                    <a:pt x="392717" y="8890"/>
                    <a:pt x="914946" y="6350"/>
                    <a:pt x="943766" y="5080"/>
                  </a:cubicBezTo>
                  <a:cubicBezTo>
                    <a:pt x="971434" y="3810"/>
                    <a:pt x="999102" y="2540"/>
                    <a:pt x="1027922" y="2540"/>
                  </a:cubicBezTo>
                  <a:cubicBezTo>
                    <a:pt x="1075188" y="1270"/>
                    <a:pt x="1121301" y="0"/>
                    <a:pt x="1168567" y="0"/>
                  </a:cubicBezTo>
                  <a:cubicBezTo>
                    <a:pt x="1188165" y="0"/>
                    <a:pt x="1208916" y="2540"/>
                    <a:pt x="1228514" y="2540"/>
                  </a:cubicBezTo>
                  <a:cubicBezTo>
                    <a:pt x="1282696" y="3810"/>
                    <a:pt x="1338032" y="5080"/>
                    <a:pt x="1392215" y="7620"/>
                  </a:cubicBezTo>
                  <a:cubicBezTo>
                    <a:pt x="1421035" y="8890"/>
                    <a:pt x="1449856" y="12700"/>
                    <a:pt x="1478676" y="16510"/>
                  </a:cubicBezTo>
                  <a:lnTo>
                    <a:pt x="1498536" y="16510"/>
                  </a:lnTo>
                  <a:cubicBezTo>
                    <a:pt x="1509965" y="17780"/>
                    <a:pt x="1518855" y="20320"/>
                    <a:pt x="1529015" y="21590"/>
                  </a:cubicBezTo>
                  <a:close/>
                  <a:moveTo>
                    <a:pt x="1539176" y="1656929"/>
                  </a:moveTo>
                  <a:cubicBezTo>
                    <a:pt x="1540445" y="1640419"/>
                    <a:pt x="1541715" y="1627719"/>
                    <a:pt x="1541715" y="1615019"/>
                  </a:cubicBezTo>
                  <a:cubicBezTo>
                    <a:pt x="1540445" y="1544328"/>
                    <a:pt x="1539176" y="1478639"/>
                    <a:pt x="1539176" y="1407992"/>
                  </a:cubicBezTo>
                  <a:cubicBezTo>
                    <a:pt x="1539176" y="1375767"/>
                    <a:pt x="1541715" y="1343542"/>
                    <a:pt x="1540445" y="1311317"/>
                  </a:cubicBezTo>
                  <a:cubicBezTo>
                    <a:pt x="1540445" y="1281571"/>
                    <a:pt x="1539176" y="1250586"/>
                    <a:pt x="1537905" y="1220840"/>
                  </a:cubicBezTo>
                  <a:cubicBezTo>
                    <a:pt x="1532826" y="1174981"/>
                    <a:pt x="1521395" y="225586"/>
                    <a:pt x="1521395" y="179727"/>
                  </a:cubicBezTo>
                  <a:cubicBezTo>
                    <a:pt x="1518855" y="141306"/>
                    <a:pt x="1516315" y="101644"/>
                    <a:pt x="1513776" y="63222"/>
                  </a:cubicBezTo>
                  <a:cubicBezTo>
                    <a:pt x="1512505" y="44450"/>
                    <a:pt x="1511236" y="43180"/>
                    <a:pt x="1494816" y="41910"/>
                  </a:cubicBezTo>
                  <a:cubicBezTo>
                    <a:pt x="1491357" y="41910"/>
                    <a:pt x="1489052" y="41910"/>
                    <a:pt x="1485593" y="40640"/>
                  </a:cubicBezTo>
                  <a:cubicBezTo>
                    <a:pt x="1456773" y="36830"/>
                    <a:pt x="1426799" y="31750"/>
                    <a:pt x="1397979" y="30480"/>
                  </a:cubicBezTo>
                  <a:cubicBezTo>
                    <a:pt x="1327656" y="26670"/>
                    <a:pt x="1256181" y="25400"/>
                    <a:pt x="1185859" y="22860"/>
                  </a:cubicBezTo>
                  <a:lnTo>
                    <a:pt x="1102856" y="22860"/>
                  </a:lnTo>
                  <a:cubicBezTo>
                    <a:pt x="1065966" y="22860"/>
                    <a:pt x="1029075" y="22860"/>
                    <a:pt x="993338" y="24130"/>
                  </a:cubicBezTo>
                  <a:cubicBezTo>
                    <a:pt x="962212" y="25400"/>
                    <a:pt x="437677" y="29210"/>
                    <a:pt x="406551" y="29210"/>
                  </a:cubicBezTo>
                  <a:cubicBezTo>
                    <a:pt x="355826" y="29210"/>
                    <a:pt x="305102" y="26670"/>
                    <a:pt x="254378" y="33020"/>
                  </a:cubicBezTo>
                  <a:cubicBezTo>
                    <a:pt x="227863" y="36830"/>
                    <a:pt x="202501" y="36830"/>
                    <a:pt x="177139" y="38100"/>
                  </a:cubicBezTo>
                  <a:cubicBezTo>
                    <a:pt x="133332" y="41910"/>
                    <a:pt x="89524" y="45720"/>
                    <a:pt x="45717" y="50800"/>
                  </a:cubicBezTo>
                  <a:cubicBezTo>
                    <a:pt x="33235" y="50800"/>
                    <a:pt x="30695" y="53307"/>
                    <a:pt x="29425" y="68180"/>
                  </a:cubicBezTo>
                  <a:cubicBezTo>
                    <a:pt x="28155" y="90489"/>
                    <a:pt x="28155" y="112799"/>
                    <a:pt x="26885" y="135108"/>
                  </a:cubicBezTo>
                  <a:cubicBezTo>
                    <a:pt x="25615" y="172291"/>
                    <a:pt x="23075" y="208234"/>
                    <a:pt x="21805" y="245417"/>
                  </a:cubicBezTo>
                  <a:cubicBezTo>
                    <a:pt x="16725" y="285078"/>
                    <a:pt x="23075" y="1254304"/>
                    <a:pt x="25615" y="1293965"/>
                  </a:cubicBezTo>
                  <a:cubicBezTo>
                    <a:pt x="25615" y="1336106"/>
                    <a:pt x="25615" y="1379485"/>
                    <a:pt x="26885" y="1421626"/>
                  </a:cubicBezTo>
                  <a:cubicBezTo>
                    <a:pt x="26885" y="1452611"/>
                    <a:pt x="29425" y="1483597"/>
                    <a:pt x="29425" y="1514582"/>
                  </a:cubicBezTo>
                  <a:cubicBezTo>
                    <a:pt x="29425" y="1548046"/>
                    <a:pt x="29425" y="1581511"/>
                    <a:pt x="28155" y="1615019"/>
                  </a:cubicBezTo>
                  <a:lnTo>
                    <a:pt x="28155" y="1625179"/>
                  </a:lnTo>
                  <a:cubicBezTo>
                    <a:pt x="28155" y="1635340"/>
                    <a:pt x="31965" y="1639150"/>
                    <a:pt x="40855" y="1639150"/>
                  </a:cubicBezTo>
                  <a:cubicBezTo>
                    <a:pt x="56092" y="1639150"/>
                    <a:pt x="72232" y="1640419"/>
                    <a:pt x="87219" y="1640419"/>
                  </a:cubicBezTo>
                  <a:cubicBezTo>
                    <a:pt x="109122" y="1640419"/>
                    <a:pt x="132179" y="1637879"/>
                    <a:pt x="154082" y="1640419"/>
                  </a:cubicBezTo>
                  <a:cubicBezTo>
                    <a:pt x="189820" y="1644229"/>
                    <a:pt x="225557" y="1646769"/>
                    <a:pt x="261295" y="1645500"/>
                  </a:cubicBezTo>
                  <a:cubicBezTo>
                    <a:pt x="284351" y="1644229"/>
                    <a:pt x="306255" y="1646769"/>
                    <a:pt x="329312" y="1646769"/>
                  </a:cubicBezTo>
                  <a:cubicBezTo>
                    <a:pt x="362743" y="1646769"/>
                    <a:pt x="396175" y="1645500"/>
                    <a:pt x="429607" y="1646769"/>
                  </a:cubicBezTo>
                  <a:cubicBezTo>
                    <a:pt x="479179" y="1648040"/>
                    <a:pt x="1023311" y="1637879"/>
                    <a:pt x="1074035" y="1640419"/>
                  </a:cubicBezTo>
                  <a:cubicBezTo>
                    <a:pt x="1095939" y="1641690"/>
                    <a:pt x="1117843" y="1642960"/>
                    <a:pt x="1138593" y="1642960"/>
                  </a:cubicBezTo>
                  <a:cubicBezTo>
                    <a:pt x="1176637" y="1645500"/>
                    <a:pt x="1213527" y="1641690"/>
                    <a:pt x="1251570" y="1645500"/>
                  </a:cubicBezTo>
                  <a:cubicBezTo>
                    <a:pt x="1282696" y="1648040"/>
                    <a:pt x="1313823" y="1648040"/>
                    <a:pt x="1344949" y="1650579"/>
                  </a:cubicBezTo>
                  <a:cubicBezTo>
                    <a:pt x="1391062" y="1654390"/>
                    <a:pt x="1437175" y="1656929"/>
                    <a:pt x="1483288" y="1658200"/>
                  </a:cubicBezTo>
                  <a:cubicBezTo>
                    <a:pt x="1501076" y="1658200"/>
                    <a:pt x="1518855" y="1656929"/>
                    <a:pt x="1539176" y="165692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12" name="TextBox 31"/>
          <p:cNvSpPr txBox="1"/>
          <p:nvPr/>
        </p:nvSpPr>
        <p:spPr>
          <a:xfrm>
            <a:off x="7442200" y="4381500"/>
            <a:ext cx="2663825" cy="224726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3895"/>
              </a:lnSpc>
              <a:spcBef>
                <a:spcPct val="0"/>
              </a:spcBef>
            </a:pPr>
            <a:r>
              <a:rPr lang="en-IN" altLang="en-US" sz="24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T1-Inpatient Payments</a:t>
            </a:r>
            <a:br>
              <a:rPr lang="en-IN" altLang="en-US" sz="24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</a:br>
            <a:r>
              <a:rPr lang="en-IN" altLang="en-US" sz="24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(What was charged and Paid)</a:t>
            </a:r>
            <a:endParaRPr lang="en-IN" altLang="en-US" sz="240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113" name="TextBox 31"/>
          <p:cNvSpPr txBox="1"/>
          <p:nvPr/>
        </p:nvSpPr>
        <p:spPr>
          <a:xfrm>
            <a:off x="13868400" y="4274820"/>
            <a:ext cx="2465070" cy="23456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3895"/>
              </a:lnSpc>
              <a:spcBef>
                <a:spcPct val="0"/>
              </a:spcBef>
            </a:pPr>
            <a:r>
              <a:rPr lang="en-IN" altLang="en-US" sz="24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T3-Provider Info</a:t>
            </a:r>
            <a:br>
              <a:rPr lang="en-IN" altLang="en-US" sz="24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</a:br>
            <a:r>
              <a:rPr lang="en-IN" altLang="en-US" sz="24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(Hospital Profiles)</a:t>
            </a:r>
            <a:endParaRPr lang="en-IN" altLang="en-US" sz="240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118" name="TextBox 57"/>
          <p:cNvSpPr txBox="1"/>
          <p:nvPr/>
        </p:nvSpPr>
        <p:spPr>
          <a:xfrm>
            <a:off x="5867400" y="5098415"/>
            <a:ext cx="1361440" cy="8331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3895"/>
              </a:lnSpc>
              <a:spcBef>
                <a:spcPct val="0"/>
              </a:spcBef>
            </a:pPr>
            <a:r>
              <a:rPr lang="en-IN" altLang="en-US" sz="20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DRG</a:t>
            </a:r>
            <a:endParaRPr lang="en-IN" altLang="en-US" sz="200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119" name="TextBox 57"/>
          <p:cNvSpPr txBox="1"/>
          <p:nvPr/>
        </p:nvSpPr>
        <p:spPr>
          <a:xfrm>
            <a:off x="6019800" y="5676900"/>
            <a:ext cx="1043305" cy="7797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3895"/>
              </a:lnSpc>
              <a:spcBef>
                <a:spcPct val="0"/>
              </a:spcBef>
            </a:pPr>
            <a:r>
              <a:rPr lang="en-IN" altLang="en-US" sz="20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Code</a:t>
            </a:r>
            <a:endParaRPr lang="en-IN" altLang="en-US" sz="200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grpSp>
        <p:nvGrpSpPr>
          <p:cNvPr id="120" name="Group 53"/>
          <p:cNvGrpSpPr/>
          <p:nvPr/>
        </p:nvGrpSpPr>
        <p:grpSpPr>
          <a:xfrm rot="0">
            <a:off x="10538051" y="4815683"/>
            <a:ext cx="2476500" cy="472996"/>
            <a:chOff x="0" y="0"/>
            <a:chExt cx="1946056" cy="371685"/>
          </a:xfrm>
          <a:solidFill>
            <a:schemeClr val="accent6"/>
          </a:solidFill>
        </p:grpSpPr>
        <p:sp>
          <p:nvSpPr>
            <p:cNvPr id="121" name="Freeform 54"/>
            <p:cNvSpPr/>
            <p:nvPr/>
          </p:nvSpPr>
          <p:spPr>
            <a:xfrm>
              <a:off x="39992" y="45156"/>
              <a:ext cx="1906064" cy="325824"/>
            </a:xfrm>
            <a:custGeom>
              <a:avLst/>
              <a:gdLst/>
              <a:ahLst/>
              <a:cxnLst/>
              <a:rect l="l" t="t" r="r" b="b"/>
              <a:pathLst>
                <a:path w="1906064" h="325824">
                  <a:moveTo>
                    <a:pt x="648" y="296049"/>
                  </a:moveTo>
                  <a:cubicBezTo>
                    <a:pt x="-1892" y="304939"/>
                    <a:pt x="3188" y="311289"/>
                    <a:pt x="13166" y="312559"/>
                  </a:cubicBezTo>
                  <a:cubicBezTo>
                    <a:pt x="24595" y="313829"/>
                    <a:pt x="34596" y="313829"/>
                    <a:pt x="46025" y="313829"/>
                  </a:cubicBezTo>
                  <a:cubicBezTo>
                    <a:pt x="91740" y="315099"/>
                    <a:pt x="137456" y="315099"/>
                    <a:pt x="184601" y="316369"/>
                  </a:cubicBezTo>
                  <a:cubicBezTo>
                    <a:pt x="210316" y="317639"/>
                    <a:pt x="236031" y="318909"/>
                    <a:pt x="260318" y="320179"/>
                  </a:cubicBezTo>
                  <a:cubicBezTo>
                    <a:pt x="303177" y="321449"/>
                    <a:pt x="344607" y="321449"/>
                    <a:pt x="387465" y="322719"/>
                  </a:cubicBezTo>
                  <a:cubicBezTo>
                    <a:pt x="404609" y="322719"/>
                    <a:pt x="420324" y="322719"/>
                    <a:pt x="437467" y="321449"/>
                  </a:cubicBezTo>
                  <a:cubicBezTo>
                    <a:pt x="444610" y="321449"/>
                    <a:pt x="453182" y="320179"/>
                    <a:pt x="460325" y="320179"/>
                  </a:cubicBezTo>
                  <a:cubicBezTo>
                    <a:pt x="488898" y="321449"/>
                    <a:pt x="1060347" y="312559"/>
                    <a:pt x="1088919" y="313829"/>
                  </a:cubicBezTo>
                  <a:cubicBezTo>
                    <a:pt x="1128920" y="315099"/>
                    <a:pt x="1238925" y="315099"/>
                    <a:pt x="1278926" y="315099"/>
                  </a:cubicBezTo>
                  <a:cubicBezTo>
                    <a:pt x="1294641" y="315099"/>
                    <a:pt x="1308927" y="313829"/>
                    <a:pt x="1324642" y="313829"/>
                  </a:cubicBezTo>
                  <a:lnTo>
                    <a:pt x="1401788" y="317639"/>
                  </a:lnTo>
                  <a:cubicBezTo>
                    <a:pt x="1457504" y="320179"/>
                    <a:pt x="1511791" y="317639"/>
                    <a:pt x="1567508" y="321449"/>
                  </a:cubicBezTo>
                  <a:cubicBezTo>
                    <a:pt x="1660368" y="326529"/>
                    <a:pt x="1754657" y="320179"/>
                    <a:pt x="1842564" y="325259"/>
                  </a:cubicBezTo>
                  <a:cubicBezTo>
                    <a:pt x="1862884" y="326529"/>
                    <a:pt x="1883204" y="325259"/>
                    <a:pt x="1906064" y="325259"/>
                  </a:cubicBezTo>
                  <a:lnTo>
                    <a:pt x="1906064" y="265569"/>
                  </a:lnTo>
                  <a:cubicBezTo>
                    <a:pt x="1904794" y="231832"/>
                    <a:pt x="1903524" y="223058"/>
                    <a:pt x="1903524" y="213736"/>
                  </a:cubicBezTo>
                  <a:cubicBezTo>
                    <a:pt x="1903524" y="202951"/>
                    <a:pt x="1907334" y="191984"/>
                    <a:pt x="1900984" y="181199"/>
                  </a:cubicBezTo>
                  <a:cubicBezTo>
                    <a:pt x="1893364" y="174070"/>
                    <a:pt x="1881934" y="33505"/>
                    <a:pt x="1881934" y="26377"/>
                  </a:cubicBezTo>
                  <a:cubicBezTo>
                    <a:pt x="1879394" y="21441"/>
                    <a:pt x="1878124" y="16323"/>
                    <a:pt x="1875584" y="11388"/>
                  </a:cubicBezTo>
                  <a:cubicBezTo>
                    <a:pt x="1875584" y="9926"/>
                    <a:pt x="1874314" y="8463"/>
                    <a:pt x="1873044" y="5644"/>
                  </a:cubicBezTo>
                  <a:cubicBezTo>
                    <a:pt x="1862884" y="3104"/>
                    <a:pt x="1853994" y="1834"/>
                    <a:pt x="1843834" y="564"/>
                  </a:cubicBezTo>
                  <a:cubicBezTo>
                    <a:pt x="1836214" y="-706"/>
                    <a:pt x="1828594" y="564"/>
                    <a:pt x="1822244" y="564"/>
                  </a:cubicBezTo>
                  <a:lnTo>
                    <a:pt x="6023" y="5644"/>
                  </a:lnTo>
                  <a:lnTo>
                    <a:pt x="648" y="296049"/>
                  </a:lnTo>
                  <a:close/>
                </a:path>
              </a:pathLst>
            </a:custGeom>
            <a:grpFill/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</p:sp>
        <p:sp>
          <p:nvSpPr>
            <p:cNvPr id="122" name="Freeform 55"/>
            <p:cNvSpPr/>
            <p:nvPr/>
          </p:nvSpPr>
          <p:spPr>
            <a:xfrm>
              <a:off x="11430" y="16510"/>
              <a:ext cx="1885096" cy="317075"/>
            </a:xfrm>
            <a:custGeom>
              <a:avLst/>
              <a:gdLst/>
              <a:ahLst/>
              <a:cxnLst/>
              <a:rect l="l" t="t" r="r" b="b"/>
              <a:pathLst>
                <a:path w="1885096" h="317075">
                  <a:moveTo>
                    <a:pt x="1885096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938903" y="0"/>
                  </a:lnTo>
                  <a:lnTo>
                    <a:pt x="1863506" y="8890"/>
                  </a:lnTo>
                  <a:close/>
                </a:path>
              </a:pathLst>
            </a:custGeom>
            <a:grpFill/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</p:sp>
        <p:sp>
          <p:nvSpPr>
            <p:cNvPr id="123" name="Freeform 56"/>
            <p:cNvSpPr/>
            <p:nvPr/>
          </p:nvSpPr>
          <p:spPr>
            <a:xfrm>
              <a:off x="-215" y="0"/>
              <a:ext cx="1909441" cy="343039"/>
            </a:xfrm>
            <a:custGeom>
              <a:avLst/>
              <a:gdLst/>
              <a:ahLst/>
              <a:cxnLst/>
              <a:rect l="l" t="t" r="r" b="b"/>
              <a:pathLst>
                <a:path w="1909441" h="343039">
                  <a:moveTo>
                    <a:pt x="1876421" y="21590"/>
                  </a:moveTo>
                  <a:cubicBezTo>
                    <a:pt x="1877691" y="34290"/>
                    <a:pt x="1877691" y="44450"/>
                    <a:pt x="1878961" y="52340"/>
                  </a:cubicBezTo>
                  <a:cubicBezTo>
                    <a:pt x="1881501" y="57275"/>
                    <a:pt x="1882771" y="62393"/>
                    <a:pt x="1885311" y="67328"/>
                  </a:cubicBezTo>
                  <a:cubicBezTo>
                    <a:pt x="1885311" y="74457"/>
                    <a:pt x="1898011" y="215022"/>
                    <a:pt x="1904361" y="222151"/>
                  </a:cubicBezTo>
                  <a:cubicBezTo>
                    <a:pt x="1910711" y="232936"/>
                    <a:pt x="1906901" y="243903"/>
                    <a:pt x="1906901" y="254687"/>
                  </a:cubicBezTo>
                  <a:cubicBezTo>
                    <a:pt x="1906901" y="264192"/>
                    <a:pt x="1908171" y="272966"/>
                    <a:pt x="1909441" y="282785"/>
                  </a:cubicBezTo>
                  <a:lnTo>
                    <a:pt x="1909441" y="342475"/>
                  </a:lnTo>
                  <a:cubicBezTo>
                    <a:pt x="1886581" y="342475"/>
                    <a:pt x="1866261" y="343745"/>
                    <a:pt x="1845941" y="342475"/>
                  </a:cubicBezTo>
                  <a:cubicBezTo>
                    <a:pt x="1753434" y="337395"/>
                    <a:pt x="1659145" y="343745"/>
                    <a:pt x="1566285" y="338665"/>
                  </a:cubicBezTo>
                  <a:cubicBezTo>
                    <a:pt x="1510568" y="334855"/>
                    <a:pt x="1456281" y="337395"/>
                    <a:pt x="1400565" y="334855"/>
                  </a:cubicBezTo>
                  <a:lnTo>
                    <a:pt x="1323419" y="331045"/>
                  </a:lnTo>
                  <a:cubicBezTo>
                    <a:pt x="1307704" y="331045"/>
                    <a:pt x="1293418" y="332315"/>
                    <a:pt x="1277703" y="332315"/>
                  </a:cubicBezTo>
                  <a:cubicBezTo>
                    <a:pt x="1237701" y="331045"/>
                    <a:pt x="1127697" y="332315"/>
                    <a:pt x="1087696" y="331045"/>
                  </a:cubicBezTo>
                  <a:cubicBezTo>
                    <a:pt x="1059124" y="329775"/>
                    <a:pt x="487675" y="338665"/>
                    <a:pt x="459102" y="337395"/>
                  </a:cubicBezTo>
                  <a:cubicBezTo>
                    <a:pt x="451959" y="337395"/>
                    <a:pt x="443387" y="338665"/>
                    <a:pt x="436244" y="338665"/>
                  </a:cubicBezTo>
                  <a:cubicBezTo>
                    <a:pt x="419101" y="338665"/>
                    <a:pt x="403386" y="339935"/>
                    <a:pt x="386242" y="339935"/>
                  </a:cubicBezTo>
                  <a:cubicBezTo>
                    <a:pt x="343384" y="339935"/>
                    <a:pt x="301954" y="338665"/>
                    <a:pt x="259095" y="337395"/>
                  </a:cubicBezTo>
                  <a:cubicBezTo>
                    <a:pt x="233380" y="336125"/>
                    <a:pt x="207664" y="334855"/>
                    <a:pt x="183378" y="333585"/>
                  </a:cubicBezTo>
                  <a:cubicBezTo>
                    <a:pt x="137662" y="332315"/>
                    <a:pt x="91946" y="331045"/>
                    <a:pt x="44801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230" y="30480"/>
                    <a:pt x="79088" y="29210"/>
                  </a:cubicBezTo>
                  <a:cubicBezTo>
                    <a:pt x="117661" y="25400"/>
                    <a:pt x="156234" y="22860"/>
                    <a:pt x="196235" y="20320"/>
                  </a:cubicBezTo>
                  <a:cubicBezTo>
                    <a:pt x="223379" y="17780"/>
                    <a:pt x="250523" y="16510"/>
                    <a:pt x="276238" y="13970"/>
                  </a:cubicBezTo>
                  <a:cubicBezTo>
                    <a:pt x="301954" y="11430"/>
                    <a:pt x="329097" y="8890"/>
                    <a:pt x="354813" y="8890"/>
                  </a:cubicBezTo>
                  <a:cubicBezTo>
                    <a:pt x="383385" y="7620"/>
                    <a:pt x="411958" y="10160"/>
                    <a:pt x="440530" y="8890"/>
                  </a:cubicBezTo>
                  <a:cubicBezTo>
                    <a:pt x="476246" y="8890"/>
                    <a:pt x="1123412" y="6350"/>
                    <a:pt x="1159127" y="5080"/>
                  </a:cubicBezTo>
                  <a:cubicBezTo>
                    <a:pt x="1193414" y="3810"/>
                    <a:pt x="1227701" y="2540"/>
                    <a:pt x="1263417" y="2540"/>
                  </a:cubicBezTo>
                  <a:cubicBezTo>
                    <a:pt x="1321990" y="1270"/>
                    <a:pt x="1379135" y="0"/>
                    <a:pt x="1437709" y="0"/>
                  </a:cubicBezTo>
                  <a:cubicBezTo>
                    <a:pt x="1461995" y="0"/>
                    <a:pt x="1487710" y="2540"/>
                    <a:pt x="1511997" y="2540"/>
                  </a:cubicBezTo>
                  <a:cubicBezTo>
                    <a:pt x="1579142" y="3810"/>
                    <a:pt x="1647716" y="5080"/>
                    <a:pt x="1714862" y="7620"/>
                  </a:cubicBezTo>
                  <a:cubicBezTo>
                    <a:pt x="1750577" y="8890"/>
                    <a:pt x="1786293" y="12700"/>
                    <a:pt x="1822008" y="16510"/>
                  </a:cubicBezTo>
                  <a:lnTo>
                    <a:pt x="1845941" y="16510"/>
                  </a:lnTo>
                  <a:cubicBezTo>
                    <a:pt x="1857371" y="17780"/>
                    <a:pt x="1866261" y="20320"/>
                    <a:pt x="1876421" y="21590"/>
                  </a:cubicBezTo>
                  <a:close/>
                  <a:moveTo>
                    <a:pt x="1886581" y="325965"/>
                  </a:moveTo>
                  <a:cubicBezTo>
                    <a:pt x="1887851" y="309455"/>
                    <a:pt x="1889121" y="296755"/>
                    <a:pt x="1889121" y="284055"/>
                  </a:cubicBezTo>
                  <a:cubicBezTo>
                    <a:pt x="1887851" y="272052"/>
                    <a:pt x="1886581" y="262365"/>
                    <a:pt x="1886581" y="251946"/>
                  </a:cubicBezTo>
                  <a:cubicBezTo>
                    <a:pt x="1886581" y="247193"/>
                    <a:pt x="1889121" y="242441"/>
                    <a:pt x="1887851" y="237688"/>
                  </a:cubicBezTo>
                  <a:cubicBezTo>
                    <a:pt x="1887851" y="233301"/>
                    <a:pt x="1886581" y="228731"/>
                    <a:pt x="1885311" y="224344"/>
                  </a:cubicBezTo>
                  <a:cubicBezTo>
                    <a:pt x="1880231" y="217581"/>
                    <a:pt x="1868801" y="77565"/>
                    <a:pt x="1868801" y="70801"/>
                  </a:cubicBezTo>
                  <a:cubicBezTo>
                    <a:pt x="1866261" y="65135"/>
                    <a:pt x="1863721" y="59286"/>
                    <a:pt x="1861181" y="53619"/>
                  </a:cubicBezTo>
                  <a:cubicBezTo>
                    <a:pt x="1859911" y="44450"/>
                    <a:pt x="1858641" y="43180"/>
                    <a:pt x="1842009" y="41910"/>
                  </a:cubicBezTo>
                  <a:cubicBezTo>
                    <a:pt x="1837723" y="41910"/>
                    <a:pt x="1834866" y="41910"/>
                    <a:pt x="1830580" y="40640"/>
                  </a:cubicBezTo>
                  <a:cubicBezTo>
                    <a:pt x="1794864" y="36830"/>
                    <a:pt x="1757720" y="31750"/>
                    <a:pt x="1722004" y="30480"/>
                  </a:cubicBezTo>
                  <a:cubicBezTo>
                    <a:pt x="1634859" y="26670"/>
                    <a:pt x="1546284" y="25400"/>
                    <a:pt x="1459138" y="22860"/>
                  </a:cubicBezTo>
                  <a:lnTo>
                    <a:pt x="1356277" y="22860"/>
                  </a:lnTo>
                  <a:cubicBezTo>
                    <a:pt x="1310561" y="22860"/>
                    <a:pt x="1264845" y="22860"/>
                    <a:pt x="1220558" y="24130"/>
                  </a:cubicBezTo>
                  <a:cubicBezTo>
                    <a:pt x="1181985" y="25400"/>
                    <a:pt x="531962" y="29210"/>
                    <a:pt x="493389" y="29210"/>
                  </a:cubicBezTo>
                  <a:cubicBezTo>
                    <a:pt x="430530" y="29210"/>
                    <a:pt x="367670" y="26670"/>
                    <a:pt x="304811" y="33020"/>
                  </a:cubicBezTo>
                  <a:cubicBezTo>
                    <a:pt x="271952" y="36830"/>
                    <a:pt x="240523" y="36830"/>
                    <a:pt x="209093" y="38100"/>
                  </a:cubicBezTo>
                  <a:cubicBezTo>
                    <a:pt x="154805" y="41910"/>
                    <a:pt x="100518" y="45720"/>
                    <a:pt x="46230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59088" y="308185"/>
                    <a:pt x="79088" y="309455"/>
                    <a:pt x="97661" y="309455"/>
                  </a:cubicBezTo>
                  <a:cubicBezTo>
                    <a:pt x="124804" y="309455"/>
                    <a:pt x="153377" y="306915"/>
                    <a:pt x="180521" y="309455"/>
                  </a:cubicBezTo>
                  <a:cubicBezTo>
                    <a:pt x="224808" y="313265"/>
                    <a:pt x="269095" y="315805"/>
                    <a:pt x="313383" y="314535"/>
                  </a:cubicBezTo>
                  <a:cubicBezTo>
                    <a:pt x="341955" y="313265"/>
                    <a:pt x="369099" y="315805"/>
                    <a:pt x="397671" y="315805"/>
                  </a:cubicBezTo>
                  <a:cubicBezTo>
                    <a:pt x="439101" y="315805"/>
                    <a:pt x="480531" y="314535"/>
                    <a:pt x="521961" y="315805"/>
                  </a:cubicBezTo>
                  <a:cubicBezTo>
                    <a:pt x="583392" y="317075"/>
                    <a:pt x="1257702" y="306915"/>
                    <a:pt x="1320562" y="309455"/>
                  </a:cubicBezTo>
                  <a:cubicBezTo>
                    <a:pt x="1347705" y="310725"/>
                    <a:pt x="1374849" y="311995"/>
                    <a:pt x="1400565" y="311995"/>
                  </a:cubicBezTo>
                  <a:cubicBezTo>
                    <a:pt x="1447709" y="314535"/>
                    <a:pt x="1493425" y="310725"/>
                    <a:pt x="1540570" y="314535"/>
                  </a:cubicBezTo>
                  <a:cubicBezTo>
                    <a:pt x="1579142" y="317075"/>
                    <a:pt x="1617715" y="317075"/>
                    <a:pt x="1656288" y="319615"/>
                  </a:cubicBezTo>
                  <a:cubicBezTo>
                    <a:pt x="1713433" y="323425"/>
                    <a:pt x="1770578" y="325965"/>
                    <a:pt x="1827723" y="327235"/>
                  </a:cubicBezTo>
                  <a:cubicBezTo>
                    <a:pt x="1848481" y="327235"/>
                    <a:pt x="1866261" y="325965"/>
                    <a:pt x="1886581" y="325965"/>
                  </a:cubicBezTo>
                  <a:close/>
                </a:path>
              </a:pathLst>
            </a:custGeom>
            <a:grpFill/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</p:sp>
      </p:grpSp>
      <p:sp>
        <p:nvSpPr>
          <p:cNvPr id="125" name="TextBox 57"/>
          <p:cNvSpPr txBox="1"/>
          <p:nvPr/>
        </p:nvSpPr>
        <p:spPr>
          <a:xfrm>
            <a:off x="10744200" y="4686300"/>
            <a:ext cx="2141855" cy="3524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3895"/>
              </a:lnSpc>
              <a:spcBef>
                <a:spcPct val="0"/>
              </a:spcBef>
            </a:pPr>
            <a:r>
              <a:rPr lang="en-IN" altLang="en-US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CCN(Hospital ID)</a:t>
            </a:r>
            <a:endParaRPr lang="en-IN" altLang="en-US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126" name="TextBox 13"/>
          <p:cNvSpPr txBox="1"/>
          <p:nvPr/>
        </p:nvSpPr>
        <p:spPr>
          <a:xfrm>
            <a:off x="5313045" y="8267700"/>
            <a:ext cx="9768205" cy="111252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1765"/>
              </a:lnSpc>
            </a:pPr>
            <a:r>
              <a:rPr lang="en-US" altLang="en-GB" sz="2000" u="none" strike="noStrik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CCN stored as integer in T1, string in T3 </a:t>
            </a:r>
            <a:r>
              <a:rPr lang="en-IN" altLang="en-US" sz="2000" u="none" strike="noStrik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so</a:t>
            </a:r>
            <a:r>
              <a:rPr lang="en-US" altLang="en-GB" sz="2000" u="none" strike="noStrik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zero-padded before joining</a:t>
            </a:r>
            <a:br>
              <a:rPr lang="en-US" altLang="en-GB" sz="2000" u="none" strike="noStrik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US" altLang="en-GB" sz="2000" u="none" strike="noStrik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T1 contains 3,182 hospitals with active Medicare billing records. T3 contains 5,426 hospitals in the full CMS registry including hospitals that did not submit inpatient claims in 2017.</a:t>
            </a:r>
            <a:endParaRPr lang="en-US" altLang="en-GB" sz="2000" u="none" strike="noStrik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27" name="Freeform 2"/>
          <p:cNvSpPr/>
          <p:nvPr/>
        </p:nvSpPr>
        <p:spPr>
          <a:xfrm rot="12504198" flipH="1">
            <a:off x="15010130" y="4918075"/>
            <a:ext cx="4647565" cy="565531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7511977" y="0"/>
                </a:moveTo>
                <a:lnTo>
                  <a:pt x="0" y="0"/>
                </a:lnTo>
                <a:lnTo>
                  <a:pt x="0" y="9699131"/>
                </a:lnTo>
                <a:lnTo>
                  <a:pt x="7511977" y="9699131"/>
                </a:lnTo>
                <a:lnTo>
                  <a:pt x="75119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1" name="Round Single Corner Rectangle 130"/>
          <p:cNvSpPr/>
          <p:nvPr/>
        </p:nvSpPr>
        <p:spPr>
          <a:xfrm>
            <a:off x="2667000" y="2399665"/>
            <a:ext cx="2895600" cy="914400"/>
          </a:xfrm>
          <a:prstGeom prst="round1Rect">
            <a:avLst/>
          </a:prstGeom>
          <a:solidFill>
            <a:srgbClr val="F8BC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2" name="Round Single Corner Rectangle 131"/>
          <p:cNvSpPr/>
          <p:nvPr/>
        </p:nvSpPr>
        <p:spPr>
          <a:xfrm>
            <a:off x="5984875" y="2426970"/>
            <a:ext cx="2895600" cy="914400"/>
          </a:xfrm>
          <a:prstGeom prst="round1Rect">
            <a:avLst/>
          </a:prstGeom>
          <a:solidFill>
            <a:srgbClr val="F8BC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3" name="Round Single Corner Rectangle 132"/>
          <p:cNvSpPr/>
          <p:nvPr/>
        </p:nvSpPr>
        <p:spPr>
          <a:xfrm>
            <a:off x="9448800" y="2453005"/>
            <a:ext cx="2895600" cy="914400"/>
          </a:xfrm>
          <a:prstGeom prst="round1Rect">
            <a:avLst/>
          </a:prstGeom>
          <a:solidFill>
            <a:srgbClr val="F8BC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4" name="Round Single Corner Rectangle 133"/>
          <p:cNvSpPr/>
          <p:nvPr/>
        </p:nvSpPr>
        <p:spPr>
          <a:xfrm>
            <a:off x="13034645" y="2441575"/>
            <a:ext cx="2895600" cy="914400"/>
          </a:xfrm>
          <a:prstGeom prst="round1Rect">
            <a:avLst/>
          </a:prstGeom>
          <a:solidFill>
            <a:srgbClr val="F8BC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8" name="Text Box 137"/>
          <p:cNvSpPr txBox="1"/>
          <p:nvPr/>
        </p:nvSpPr>
        <p:spPr>
          <a:xfrm>
            <a:off x="2781300" y="2441575"/>
            <a:ext cx="2628900" cy="746125"/>
          </a:xfrm>
          <a:prstGeom prst="rect">
            <a:avLst/>
          </a:prstGeom>
          <a:solidFill>
            <a:srgbClr val="F8BC00"/>
          </a:solidFill>
        </p:spPr>
        <p:txBody>
          <a:bodyPr wrap="square" rtlCol="0">
            <a:noAutofit/>
          </a:bodyPr>
          <a:p>
            <a:r>
              <a:rPr lang="en-IN" altLang="en-GB" sz="2400"/>
              <a:t>$12.16B HOSPITALS BILLED</a:t>
            </a:r>
            <a:endParaRPr lang="en-IN" altLang="en-GB" sz="2400"/>
          </a:p>
        </p:txBody>
      </p:sp>
      <p:sp>
        <p:nvSpPr>
          <p:cNvPr id="139" name="Text Box 138"/>
          <p:cNvSpPr txBox="1"/>
          <p:nvPr/>
        </p:nvSpPr>
        <p:spPr>
          <a:xfrm>
            <a:off x="6115050" y="2476500"/>
            <a:ext cx="2628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2400"/>
              <a:t>$2.34B MEDICARE PAID</a:t>
            </a:r>
            <a:endParaRPr lang="en-IN" altLang="en-GB" sz="2400"/>
          </a:p>
        </p:txBody>
      </p:sp>
      <p:sp>
        <p:nvSpPr>
          <p:cNvPr id="140" name="Text Box 139"/>
          <p:cNvSpPr txBox="1"/>
          <p:nvPr/>
        </p:nvSpPr>
        <p:spPr>
          <a:xfrm>
            <a:off x="9525000" y="2628900"/>
            <a:ext cx="3108325" cy="694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 sz="2400"/>
              <a:t>$9.82B BILLING GAP</a:t>
            </a:r>
            <a:endParaRPr lang="en-IN" altLang="en-GB" sz="2400"/>
          </a:p>
        </p:txBody>
      </p:sp>
      <p:sp>
        <p:nvSpPr>
          <p:cNvPr id="141" name="Text Box 140"/>
          <p:cNvSpPr txBox="1"/>
          <p:nvPr/>
        </p:nvSpPr>
        <p:spPr>
          <a:xfrm>
            <a:off x="13161010" y="2498725"/>
            <a:ext cx="2964180" cy="701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 sz="2400"/>
              <a:t>19.2% MEDICARE PAYS</a:t>
            </a:r>
            <a:endParaRPr lang="en-IN" altLang="en-GB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376575">
            <a:off x="-1337409" y="-3804151"/>
            <a:ext cx="7511977" cy="96991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7" y="0"/>
                </a:lnTo>
                <a:lnTo>
                  <a:pt x="7511977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505412" flipH="1">
            <a:off x="12288538" y="-3163123"/>
            <a:ext cx="7511977" cy="96991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7511976" y="0"/>
                </a:moveTo>
                <a:lnTo>
                  <a:pt x="0" y="0"/>
                </a:lnTo>
                <a:lnTo>
                  <a:pt x="0" y="9699130"/>
                </a:lnTo>
                <a:lnTo>
                  <a:pt x="7511976" y="9699130"/>
                </a:lnTo>
                <a:lnTo>
                  <a:pt x="7511976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19993" flipH="1">
            <a:off x="-2847975" y="3661410"/>
            <a:ext cx="8627745" cy="10475595"/>
          </a:xfrm>
          <a:custGeom>
            <a:avLst/>
            <a:gdLst/>
            <a:ahLst/>
            <a:cxnLst/>
            <a:rect l="l" t="t" r="r" b="b"/>
            <a:pathLst>
              <a:path w="8754851" h="11303875">
                <a:moveTo>
                  <a:pt x="8754851" y="0"/>
                </a:moveTo>
                <a:lnTo>
                  <a:pt x="0" y="0"/>
                </a:lnTo>
                <a:lnTo>
                  <a:pt x="0" y="11303875"/>
                </a:lnTo>
                <a:lnTo>
                  <a:pt x="8754851" y="11303875"/>
                </a:lnTo>
                <a:lnTo>
                  <a:pt x="8754851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-516563" y="266967"/>
            <a:ext cx="11813829" cy="899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IN" altLang="en-US" sz="6000" b="1" spc="300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TASK 01</a:t>
            </a:r>
            <a:endParaRPr lang="en-IN" altLang="en-US" sz="6000" b="1" spc="300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84580" y="2400300"/>
            <a:ext cx="4403090" cy="20154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algn="ctr">
              <a:lnSpc>
                <a:spcPts val="3500"/>
              </a:lnSpc>
              <a:buClrTx/>
              <a:buSzTx/>
              <a:buFontTx/>
            </a:pPr>
            <a:r>
              <a:rPr lang="en-IN" altLang="en-US" sz="2400" b="1" u="sng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Question</a:t>
            </a:r>
            <a:r>
              <a:rPr lang="en-IN" altLang="en-US" sz="2400" b="1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: </a:t>
            </a:r>
            <a:br>
              <a:rPr lang="en-US" altLang="en-GB" sz="24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</a:br>
            <a: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Describe what each table represents and how you link them</a:t>
            </a:r>
            <a:endParaRPr lang="en-US" altLang="en-GB" sz="2400" spc="40">
              <a:solidFill>
                <a:srgbClr val="373739"/>
              </a:solidFill>
              <a:latin typeface="Ballpoint"/>
              <a:ea typeface="Ballpoint"/>
              <a:cs typeface="Ballpoint"/>
              <a:sym typeface="Glacial Indifference"/>
            </a:endParaRPr>
          </a:p>
        </p:txBody>
      </p:sp>
      <p:pic>
        <p:nvPicPr>
          <p:cNvPr id="12" name="Picture 11" descr="EXL_Service_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0" y="9182100"/>
            <a:ext cx="1395095" cy="51562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543800" y="652780"/>
            <a:ext cx="6856730" cy="107442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3500"/>
              </a:lnSpc>
            </a:pPr>
            <a:r>
              <a:rPr lang="en-US" altLang="en-GB" sz="32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DATA UNDERSTANDING</a:t>
            </a:r>
            <a:endParaRPr lang="en-US" altLang="en-GB" sz="3200" b="1" spc="24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124" name="Freeform 22"/>
          <p:cNvSpPr/>
          <p:nvPr/>
        </p:nvSpPr>
        <p:spPr>
          <a:xfrm rot="18780000" flipH="1" flipV="1">
            <a:off x="7562850" y="-49530"/>
            <a:ext cx="779145" cy="1015365"/>
          </a:xfrm>
          <a:custGeom>
            <a:avLst/>
            <a:gdLst/>
            <a:ahLst/>
            <a:cxnLst/>
            <a:rect l="l" t="t" r="r" b="b"/>
            <a:pathLst>
              <a:path w="802634" h="832087">
                <a:moveTo>
                  <a:pt x="802634" y="832087"/>
                </a:moveTo>
                <a:lnTo>
                  <a:pt x="0" y="832087"/>
                </a:lnTo>
                <a:lnTo>
                  <a:pt x="0" y="0"/>
                </a:lnTo>
                <a:lnTo>
                  <a:pt x="802634" y="0"/>
                </a:lnTo>
                <a:lnTo>
                  <a:pt x="802634" y="83208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3265"/>
            </a:stretch>
          </a:blipFill>
        </p:spPr>
      </p:sp>
      <p:sp>
        <p:nvSpPr>
          <p:cNvPr id="21" name="Freeform 15"/>
          <p:cNvSpPr/>
          <p:nvPr>
            <p:custDataLst>
              <p:tags r:id="rId6"/>
            </p:custDataLst>
          </p:nvPr>
        </p:nvSpPr>
        <p:spPr>
          <a:xfrm>
            <a:off x="6325894" y="1415930"/>
            <a:ext cx="3245997" cy="7267158"/>
          </a:xfrm>
          <a:custGeom>
            <a:avLst/>
            <a:gdLst/>
            <a:ahLst/>
            <a:cxnLst/>
            <a:rect l="l" t="t" r="r" b="b"/>
            <a:pathLst>
              <a:path w="3245997" h="7267158">
                <a:moveTo>
                  <a:pt x="0" y="0"/>
                </a:moveTo>
                <a:lnTo>
                  <a:pt x="3245997" y="0"/>
                </a:lnTo>
                <a:lnTo>
                  <a:pt x="3245997" y="7267158"/>
                </a:lnTo>
                <a:lnTo>
                  <a:pt x="0" y="72671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6" name="Freeform 36"/>
          <p:cNvSpPr/>
          <p:nvPr>
            <p:custDataLst>
              <p:tags r:id="rId9"/>
            </p:custDataLst>
          </p:nvPr>
        </p:nvSpPr>
        <p:spPr>
          <a:xfrm>
            <a:off x="10286330" y="1415882"/>
            <a:ext cx="3245997" cy="7267158"/>
          </a:xfrm>
          <a:custGeom>
            <a:avLst/>
            <a:gdLst/>
            <a:ahLst/>
            <a:cxnLst/>
            <a:rect l="l" t="t" r="r" b="b"/>
            <a:pathLst>
              <a:path w="3245997" h="7267158">
                <a:moveTo>
                  <a:pt x="0" y="0"/>
                </a:moveTo>
                <a:lnTo>
                  <a:pt x="3245997" y="0"/>
                </a:lnTo>
                <a:lnTo>
                  <a:pt x="3245997" y="7267157"/>
                </a:lnTo>
                <a:lnTo>
                  <a:pt x="0" y="7267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7" name="Freeform 37"/>
          <p:cNvSpPr/>
          <p:nvPr>
            <p:custDataLst>
              <p:tags r:id="rId12"/>
            </p:custDataLst>
          </p:nvPr>
        </p:nvSpPr>
        <p:spPr>
          <a:xfrm>
            <a:off x="14214952" y="1492130"/>
            <a:ext cx="3245997" cy="7267158"/>
          </a:xfrm>
          <a:custGeom>
            <a:avLst/>
            <a:gdLst/>
            <a:ahLst/>
            <a:cxnLst/>
            <a:rect l="l" t="t" r="r" b="b"/>
            <a:pathLst>
              <a:path w="3245997" h="7267158">
                <a:moveTo>
                  <a:pt x="0" y="0"/>
                </a:moveTo>
                <a:lnTo>
                  <a:pt x="3245997" y="0"/>
                </a:lnTo>
                <a:lnTo>
                  <a:pt x="3245997" y="7267158"/>
                </a:lnTo>
                <a:lnTo>
                  <a:pt x="0" y="72671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TextBox 34"/>
          <p:cNvSpPr txBox="1"/>
          <p:nvPr>
            <p:custDataLst>
              <p:tags r:id="rId13"/>
            </p:custDataLst>
          </p:nvPr>
        </p:nvSpPr>
        <p:spPr>
          <a:xfrm>
            <a:off x="6401435" y="1557020"/>
            <a:ext cx="3094355" cy="17564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4315"/>
              </a:lnSpc>
            </a:pPr>
            <a: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  <a:t>T1</a:t>
            </a:r>
            <a:endParaRPr lang="en-IN" altLang="en-US" sz="2400" spc="40">
              <a:solidFill>
                <a:srgbClr val="373739"/>
              </a:solidFill>
              <a:latin typeface="Ballpoint"/>
              <a:ea typeface="Ballpoint"/>
              <a:cs typeface="Ballpoint"/>
              <a:sym typeface="Ballpoint"/>
            </a:endParaRPr>
          </a:p>
          <a:p>
            <a:pPr marL="0" lvl="0" indent="0" algn="ctr">
              <a:lnSpc>
                <a:spcPts val="4315"/>
              </a:lnSpc>
            </a:pPr>
            <a: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  <a:t>INPATIENT </a:t>
            </a:r>
            <a:b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</a:br>
            <a: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  <a:t>PAYMENTS</a:t>
            </a:r>
            <a:endParaRPr lang="en-IN" altLang="en-US" sz="2400" spc="40">
              <a:solidFill>
                <a:srgbClr val="373739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24" name="TextBox 34"/>
          <p:cNvSpPr txBox="1"/>
          <p:nvPr>
            <p:custDataLst>
              <p:tags r:id="rId14"/>
            </p:custDataLst>
          </p:nvPr>
        </p:nvSpPr>
        <p:spPr>
          <a:xfrm>
            <a:off x="10295890" y="1537970"/>
            <a:ext cx="3094355" cy="13849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4315"/>
              </a:lnSpc>
            </a:pPr>
            <a: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  <a:t>T2</a:t>
            </a:r>
            <a:b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</a:br>
            <a: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  <a:t>DRG </a:t>
            </a:r>
            <a:b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</a:br>
            <a: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  <a:t>DETAILS</a:t>
            </a:r>
            <a:endParaRPr lang="en-IN" altLang="en-US" sz="2400" spc="40">
              <a:solidFill>
                <a:srgbClr val="373739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25" name="TextBox 34"/>
          <p:cNvSpPr txBox="1"/>
          <p:nvPr>
            <p:custDataLst>
              <p:tags r:id="rId15"/>
            </p:custDataLst>
          </p:nvPr>
        </p:nvSpPr>
        <p:spPr>
          <a:xfrm>
            <a:off x="14325600" y="1797050"/>
            <a:ext cx="3094355" cy="13849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4315"/>
              </a:lnSpc>
            </a:pPr>
            <a: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  <a:t>T3</a:t>
            </a:r>
            <a:b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</a:br>
            <a: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  <a:t>PROVIDER</a:t>
            </a:r>
            <a:b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</a:br>
            <a: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  <a:t>INFO</a:t>
            </a:r>
            <a:endParaRPr lang="en-IN" altLang="en-US" sz="2400" spc="40">
              <a:solidFill>
                <a:srgbClr val="373739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26" name="TextBox 35"/>
          <p:cNvSpPr txBox="1"/>
          <p:nvPr>
            <p:custDataLst>
              <p:tags r:id="rId16"/>
            </p:custDataLst>
          </p:nvPr>
        </p:nvSpPr>
        <p:spPr>
          <a:xfrm>
            <a:off x="6540500" y="4152900"/>
            <a:ext cx="2802890" cy="36677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ts val="29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Hospital billing register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.</a:t>
            </a:r>
            <a:endParaRPr lang="en-US" altLang="en-GB" sz="2130" u="none" strike="noStrike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Futura" panose="020B0502020204020303"/>
            </a:endParaRPr>
          </a:p>
          <a:p>
            <a:pPr marL="342900" lvl="0" indent="-342900" algn="l">
              <a:lnSpc>
                <a:spcPts val="29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What was charged vs what Medicare paid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.</a:t>
            </a:r>
            <a:endParaRPr lang="en-US" altLang="en-GB" sz="2130" u="none" strike="noStrike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Futura" panose="020B0502020204020303"/>
            </a:endParaRPr>
          </a:p>
          <a:p>
            <a:pPr marL="342900" lvl="0" indent="-342900" algn="l">
              <a:lnSpc>
                <a:spcPts val="29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196,086 rows 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- </a:t>
            </a: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3,182 hospitals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.</a:t>
            </a:r>
            <a:endParaRPr lang="en-IN" altLang="en-US" sz="2130" u="none" strike="noStrike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Futura" panose="020B0502020204020303"/>
            </a:endParaRPr>
          </a:p>
        </p:txBody>
      </p:sp>
      <p:sp>
        <p:nvSpPr>
          <p:cNvPr id="27" name="TextBox 35"/>
          <p:cNvSpPr txBox="1"/>
          <p:nvPr>
            <p:custDataLst>
              <p:tags r:id="rId17"/>
            </p:custDataLst>
          </p:nvPr>
        </p:nvSpPr>
        <p:spPr>
          <a:xfrm>
            <a:off x="10591800" y="4000500"/>
            <a:ext cx="2734310" cy="39420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ts val="29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Complexity scorecard for treatments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.</a:t>
            </a:r>
            <a:endParaRPr lang="en-US" altLang="en-GB" sz="2130" u="none" strike="noStrike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Futura" panose="020B0502020204020303"/>
            </a:endParaRPr>
          </a:p>
          <a:p>
            <a:pPr marL="342900" lvl="0" indent="-342900" algn="l">
              <a:lnSpc>
                <a:spcPts val="29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Each DRG has a relative weight (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H</a:t>
            </a: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igher = more serious)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.</a:t>
            </a:r>
            <a:endParaRPr lang="en-US" altLang="en-GB" sz="2130" u="none" strike="noStrike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Futura" panose="020B0502020204020303"/>
            </a:endParaRPr>
          </a:p>
          <a:p>
            <a:pPr marL="342900" lvl="0" indent="-342900" algn="l">
              <a:lnSpc>
                <a:spcPts val="29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543 DRGs 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- </a:t>
            </a: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Heart transplant = 26x a routine knee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 treatment..</a:t>
            </a:r>
            <a:endParaRPr lang="en-IN" altLang="en-US" sz="2130" u="none" strike="noStrike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Futura" panose="020B0502020204020303"/>
            </a:endParaRPr>
          </a:p>
        </p:txBody>
      </p:sp>
      <p:sp>
        <p:nvSpPr>
          <p:cNvPr id="38" name="TextBox 35"/>
          <p:cNvSpPr txBox="1"/>
          <p:nvPr>
            <p:custDataLst>
              <p:tags r:id="rId18"/>
            </p:custDataLst>
          </p:nvPr>
        </p:nvSpPr>
        <p:spPr>
          <a:xfrm>
            <a:off x="14527530" y="4229100"/>
            <a:ext cx="2821305" cy="33839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ts val="29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Hospital's government profile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.</a:t>
            </a:r>
            <a:endParaRPr lang="en-US" altLang="en-GB" sz="2130" u="none" strike="noStrike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Futura" panose="020B0502020204020303"/>
            </a:endParaRPr>
          </a:p>
          <a:p>
            <a:pPr marL="342900" lvl="0" indent="-342900" algn="l">
              <a:lnSpc>
                <a:spcPts val="29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Ownership type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,</a:t>
            </a: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 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H</a:t>
            </a: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ospital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 </a:t>
            </a: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type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,</a:t>
            </a: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 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P</a:t>
            </a: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atient 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R</a:t>
            </a: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ating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.</a:t>
            </a:r>
            <a:endParaRPr lang="en-US" altLang="en-GB" sz="2130" u="none" strike="noStrike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Futura" panose="020B0502020204020303"/>
            </a:endParaRPr>
          </a:p>
          <a:p>
            <a:pPr marL="342900" lvl="0" indent="-342900" algn="l">
              <a:lnSpc>
                <a:spcPts val="29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5,426 hospitals across 51 states</a:t>
            </a:r>
            <a:r>
              <a:rPr lang="en-IN" altLang="en-US" sz="2130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.</a:t>
            </a:r>
            <a:endParaRPr lang="en-IN" altLang="en-US" sz="2130" u="none" strike="noStrike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Futura" panose="020B0502020204020303"/>
            </a:endParaRPr>
          </a:p>
        </p:txBody>
      </p:sp>
      <p:sp>
        <p:nvSpPr>
          <p:cNvPr id="41" name="Freeform 13"/>
          <p:cNvSpPr/>
          <p:nvPr/>
        </p:nvSpPr>
        <p:spPr>
          <a:xfrm flipH="1">
            <a:off x="539115" y="5283835"/>
            <a:ext cx="5439410" cy="3359150"/>
          </a:xfrm>
          <a:custGeom>
            <a:avLst/>
            <a:gdLst/>
            <a:ahLst/>
            <a:cxnLst/>
            <a:rect l="l" t="t" r="r" b="b"/>
            <a:pathLst>
              <a:path w="6203541" h="2150561">
                <a:moveTo>
                  <a:pt x="0" y="0"/>
                </a:moveTo>
                <a:lnTo>
                  <a:pt x="6203541" y="0"/>
                </a:lnTo>
                <a:lnTo>
                  <a:pt x="6203541" y="2150560"/>
                </a:lnTo>
                <a:lnTo>
                  <a:pt x="0" y="215056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TextBox 28"/>
          <p:cNvSpPr txBox="1"/>
          <p:nvPr/>
        </p:nvSpPr>
        <p:spPr>
          <a:xfrm flipH="1">
            <a:off x="1073150" y="5579110"/>
            <a:ext cx="3689350" cy="3092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IN" altLang="en-US" sz="2400" spc="23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  <a:t>     JOIN LOGIC </a:t>
            </a:r>
            <a:endParaRPr lang="en-IN" altLang="en-US" sz="2400" spc="23">
              <a:solidFill>
                <a:srgbClr val="373739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43" name="TextBox 30"/>
          <p:cNvSpPr txBox="1"/>
          <p:nvPr/>
        </p:nvSpPr>
        <p:spPr>
          <a:xfrm flipH="1">
            <a:off x="1752600" y="5905500"/>
            <a:ext cx="3954780" cy="154813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lvl="0" indent="0" algn="l">
              <a:lnSpc>
                <a:spcPts val="292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GB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T1 </a:t>
            </a:r>
            <a:r>
              <a:rPr lang="en-US" altLang="en-US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↔</a:t>
            </a:r>
            <a:r>
              <a:rPr lang="en-US" altLang="en-GB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 T2 on DRG code </a:t>
            </a:r>
            <a:r>
              <a:rPr lang="en-US" altLang="en-US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→</a:t>
            </a:r>
            <a:r>
              <a:rPr lang="en-US" altLang="en-GB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to check if Medicare payment matches treatment complexity</a:t>
            </a:r>
            <a:endParaRPr lang="en-US" altLang="en-GB" u="none" strike="noStrike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Futura" panose="020B0502020204020303"/>
            </a:endParaRPr>
          </a:p>
          <a:p>
            <a:pPr lvl="0" indent="0" algn="l">
              <a:lnSpc>
                <a:spcPts val="292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GB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T1 </a:t>
            </a:r>
            <a:r>
              <a:rPr lang="en-US" altLang="en-US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↔</a:t>
            </a:r>
            <a:r>
              <a:rPr lang="en-US" altLang="en-GB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 T3 on CCN </a:t>
            </a:r>
            <a:r>
              <a:rPr lang="en-US" altLang="en-US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→</a:t>
            </a:r>
            <a:r>
              <a:rPr lang="en-US" altLang="en-GB" u="none" strike="noStrike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Futura" panose="020B0502020204020303"/>
              </a:rPr>
              <a:t> to check if hospital ownership drives billing behaviour</a:t>
            </a:r>
            <a:endParaRPr lang="en-US" altLang="en-GB" u="none" strike="noStrike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Futura" panose="020B0502020204020303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127125" y="2400300"/>
            <a:ext cx="4471035" cy="190500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7"/>
          <p:cNvSpPr txBox="1"/>
          <p:nvPr/>
        </p:nvSpPr>
        <p:spPr>
          <a:xfrm>
            <a:off x="544513" y="1303655"/>
            <a:ext cx="4930140" cy="190373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algn="ctr">
              <a:lnSpc>
                <a:spcPts val="3500"/>
              </a:lnSpc>
              <a:buClrTx/>
              <a:buSzTx/>
              <a:buFontTx/>
            </a:pPr>
            <a:r>
              <a:rPr lang="en-IN" altLang="en-US" sz="2400" b="1" u="sng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Question</a:t>
            </a:r>
            <a:r>
              <a:rPr lang="en-IN" altLang="en-US" sz="2400" b="1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: </a:t>
            </a:r>
            <a:br>
              <a:rPr lang="en-US" altLang="en-GB" sz="24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</a:br>
            <a: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Define billing gap. Which hospitals stand out and how did you define 'stands out'?</a:t>
            </a:r>
            <a:endParaRPr lang="en-US" altLang="en-GB" sz="2400" spc="40">
              <a:solidFill>
                <a:srgbClr val="373739"/>
              </a:solidFill>
              <a:latin typeface="Ballpoint"/>
              <a:ea typeface="Ballpoint"/>
              <a:cs typeface="Ballpoint"/>
              <a:sym typeface="Glacial Indifferen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2775" y="38100"/>
            <a:ext cx="4739640" cy="16192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IN" altLang="en-US" sz="4000" b="1" spc="300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TASK 02A</a:t>
            </a:r>
            <a:endParaRPr lang="en-IN" altLang="en-US" sz="4000" b="1" spc="300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pic>
        <p:nvPicPr>
          <p:cNvPr id="18" name="Picture 17" descr="EXL_Service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563100"/>
            <a:ext cx="1109345" cy="410210"/>
          </a:xfrm>
          <a:prstGeom prst="rect">
            <a:avLst/>
          </a:prstGeom>
        </p:spPr>
      </p:pic>
      <p:sp>
        <p:nvSpPr>
          <p:cNvPr id="19" name="TextBox 10"/>
          <p:cNvSpPr txBox="1"/>
          <p:nvPr/>
        </p:nvSpPr>
        <p:spPr>
          <a:xfrm>
            <a:off x="4267200" y="157480"/>
            <a:ext cx="8592185" cy="4787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3500"/>
              </a:lnSpc>
            </a:pPr>
            <a:r>
              <a:rPr lang="en-IN" altLang="en-US" sz="25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BILLING GAP DEFINITION &amp; TOP HOSPITALS</a:t>
            </a:r>
            <a:endParaRPr lang="en-IN" altLang="en-US" sz="2500" b="1" spc="24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373063" y="1272540"/>
            <a:ext cx="5273040" cy="193103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24" name="Freeform 22"/>
          <p:cNvSpPr/>
          <p:nvPr/>
        </p:nvSpPr>
        <p:spPr>
          <a:xfrm rot="17700000" flipH="1" flipV="1">
            <a:off x="3888912" y="-109145"/>
            <a:ext cx="802634" cy="832087"/>
          </a:xfrm>
          <a:custGeom>
            <a:avLst/>
            <a:gdLst/>
            <a:ahLst/>
            <a:cxnLst/>
            <a:rect l="l" t="t" r="r" b="b"/>
            <a:pathLst>
              <a:path w="802634" h="832087">
                <a:moveTo>
                  <a:pt x="802634" y="832087"/>
                </a:moveTo>
                <a:lnTo>
                  <a:pt x="0" y="832087"/>
                </a:lnTo>
                <a:lnTo>
                  <a:pt x="0" y="0"/>
                </a:lnTo>
                <a:lnTo>
                  <a:pt x="802634" y="0"/>
                </a:lnTo>
                <a:lnTo>
                  <a:pt x="802634" y="8320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3265"/>
            </a:stretch>
          </a:blipFill>
        </p:spPr>
      </p:sp>
      <p:sp>
        <p:nvSpPr>
          <p:cNvPr id="28" name="Rectangles 27"/>
          <p:cNvSpPr/>
          <p:nvPr/>
        </p:nvSpPr>
        <p:spPr>
          <a:xfrm>
            <a:off x="6345555" y="7679690"/>
            <a:ext cx="5923915" cy="2065020"/>
          </a:xfrm>
          <a:prstGeom prst="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6" name="Rounded Rectangle 35"/>
          <p:cNvSpPr/>
          <p:nvPr/>
        </p:nvSpPr>
        <p:spPr>
          <a:xfrm>
            <a:off x="342583" y="3390900"/>
            <a:ext cx="5334000" cy="2514600"/>
          </a:xfrm>
          <a:prstGeom prst="roundRect">
            <a:avLst/>
          </a:prstGeom>
          <a:solidFill>
            <a:srgbClr val="FF747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7" name="Rounded Rectangle 36"/>
          <p:cNvSpPr/>
          <p:nvPr/>
        </p:nvSpPr>
        <p:spPr>
          <a:xfrm>
            <a:off x="342900" y="6172200"/>
            <a:ext cx="5334000" cy="3333750"/>
          </a:xfrm>
          <a:prstGeom prst="roundRect">
            <a:avLst/>
          </a:prstGeom>
          <a:solidFill>
            <a:srgbClr val="FFDA6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8" name="Text Box 37"/>
          <p:cNvSpPr txBox="1"/>
          <p:nvPr/>
        </p:nvSpPr>
        <p:spPr>
          <a:xfrm>
            <a:off x="598805" y="3682365"/>
            <a:ext cx="4821555" cy="19634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ts val="2920"/>
              </a:lnSpc>
              <a:buClrTx/>
              <a:buSzTx/>
              <a:buFontTx/>
            </a:pPr>
            <a: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</a:rPr>
              <a:t>METRICS:</a:t>
            </a:r>
            <a:br>
              <a:rPr lang="en-IN" altLang="en-US" sz="2500"/>
            </a:br>
            <a:r>
              <a:rPr lang="en-US" altLang="en-GB" sz="213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Billing Gap = Avg Charged − Avg Medicare Payment</a:t>
            </a:r>
            <a:endParaRPr lang="en-US" altLang="en-GB" sz="2130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</a:endParaRPr>
          </a:p>
          <a:p>
            <a:pPr algn="ctr">
              <a:lnSpc>
                <a:spcPts val="2920"/>
              </a:lnSpc>
              <a:buClrTx/>
              <a:buSzTx/>
              <a:buFontTx/>
            </a:pPr>
            <a:r>
              <a:rPr lang="en-US" altLang="en-GB" sz="213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Charge Ratio = Avg Charged ÷ Avg Medicare Payment</a:t>
            </a:r>
            <a:endParaRPr lang="en-US" altLang="en-GB" sz="2130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568960" y="6362700"/>
            <a:ext cx="4906010" cy="2025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ts val="2920"/>
              </a:lnSpc>
              <a:buClrTx/>
              <a:buSzTx/>
              <a:buNone/>
            </a:pPr>
            <a: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</a:rPr>
              <a:t>HOW IT IS DEFINED “STANDS OUT”</a:t>
            </a:r>
            <a:b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</a:rPr>
            </a:br>
            <a:r>
              <a:rPr lang="en-US" altLang="en-GB" sz="213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Hospitals above 10x charge ratio flagged as extreme outliers</a:t>
            </a:r>
            <a:endParaRPr lang="en-US" altLang="en-GB" sz="2130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</a:endParaRPr>
          </a:p>
          <a:p>
            <a:pPr algn="ctr">
              <a:lnSpc>
                <a:spcPts val="2920"/>
              </a:lnSpc>
              <a:buClrTx/>
              <a:buSzTx/>
              <a:buNone/>
            </a:pPr>
            <a:r>
              <a:rPr lang="en-US" altLang="en-GB" sz="213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These 200 hospitals (top 6.3%) sit well beyond the long tail of the distribution</a:t>
            </a:r>
            <a:r>
              <a:rPr lang="en-IN" altLang="en-US" sz="213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 which is</a:t>
            </a:r>
            <a:r>
              <a:rPr lang="en-US" altLang="en-GB" sz="213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 visible in the histogram on the next slide.</a:t>
            </a:r>
            <a:endParaRPr lang="en-US" altLang="en-GB" sz="2130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791200" y="8051800"/>
            <a:ext cx="12344400" cy="1692910"/>
          </a:xfrm>
          <a:prstGeom prst="roundRect">
            <a:avLst/>
          </a:prstGeom>
          <a:solidFill>
            <a:srgbClr val="FFDA6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41" name="Text Box 40"/>
          <p:cNvSpPr txBox="1"/>
          <p:nvPr/>
        </p:nvSpPr>
        <p:spPr>
          <a:xfrm>
            <a:off x="6280150" y="8244840"/>
            <a:ext cx="11474450" cy="1214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ts val="2920"/>
              </a:lnSpc>
              <a:buClrTx/>
              <a:buSzTx/>
              <a:buNone/>
            </a:pPr>
            <a: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</a:rPr>
              <a:t>KEY FINDING:</a:t>
            </a:r>
            <a:br>
              <a:rPr lang="en-IN" altLang="en-US" sz="2400"/>
            </a:br>
            <a:r>
              <a:rPr lang="en-US" altLang="en-GB" sz="24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Blue Valley Hospital, KS </a:t>
            </a:r>
            <a:r>
              <a:rPr lang="en-IN" altLang="en-US" sz="24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is </a:t>
            </a:r>
            <a:r>
              <a:rPr lang="en-US" altLang="en-GB" sz="24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21.8x</a:t>
            </a:r>
            <a:r>
              <a:rPr lang="en-IN" altLang="en-US" sz="24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. </a:t>
            </a:r>
            <a:r>
              <a:rPr lang="en-US" altLang="en-GB" sz="24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Medicare pays just $1 for every $21.8 billed</a:t>
            </a:r>
            <a:r>
              <a:rPr lang="en-IN" altLang="en-US" sz="24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.</a:t>
            </a:r>
            <a:endParaRPr lang="en-US" altLang="en-GB" sz="2400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</a:endParaRPr>
          </a:p>
          <a:p>
            <a:pPr algn="ctr">
              <a:lnSpc>
                <a:spcPts val="2920"/>
              </a:lnSpc>
              <a:buClrTx/>
              <a:buSzTx/>
              <a:buNone/>
            </a:pPr>
            <a:r>
              <a:rPr lang="en-US" altLang="en-GB" sz="24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Capital Health, NJ </a:t>
            </a:r>
            <a:r>
              <a:rPr lang="en-IN" altLang="en-US" sz="24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is </a:t>
            </a:r>
            <a:r>
              <a:rPr lang="en-US" altLang="en-GB" sz="24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19.68x</a:t>
            </a:r>
            <a:r>
              <a:rPr lang="en-IN" altLang="en-US" sz="24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. </a:t>
            </a:r>
            <a:r>
              <a:rPr lang="en-US" altLang="en-GB" sz="24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Both are For-profit hospitals</a:t>
            </a:r>
            <a:endParaRPr lang="en-US" altLang="en-GB" sz="2400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</a:endParaRPr>
          </a:p>
        </p:txBody>
      </p:sp>
      <p:sp>
        <p:nvSpPr>
          <p:cNvPr id="42" name="Freeform 5"/>
          <p:cNvSpPr/>
          <p:nvPr/>
        </p:nvSpPr>
        <p:spPr>
          <a:xfrm rot="1923424">
            <a:off x="-1870710" y="-4935220"/>
            <a:ext cx="4569460" cy="5174615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7" y="0"/>
                </a:lnTo>
                <a:lnTo>
                  <a:pt x="7511977" y="9699130"/>
                </a:lnTo>
                <a:lnTo>
                  <a:pt x="0" y="9699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5"/>
          <p:cNvSpPr/>
          <p:nvPr/>
        </p:nvSpPr>
        <p:spPr>
          <a:xfrm rot="1380000">
            <a:off x="-3895090" y="-2780030"/>
            <a:ext cx="4569460" cy="5174615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7" y="0"/>
                </a:lnTo>
                <a:lnTo>
                  <a:pt x="7511977" y="9699130"/>
                </a:lnTo>
                <a:lnTo>
                  <a:pt x="0" y="9699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45" name="Picture 44" descr="top10_overbill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050" y="819150"/>
            <a:ext cx="11939270" cy="6964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/>
          <p:cNvSpPr/>
          <p:nvPr/>
        </p:nvSpPr>
        <p:spPr>
          <a:xfrm>
            <a:off x="1066800" y="8572500"/>
            <a:ext cx="15925800" cy="1219200"/>
          </a:xfrm>
          <a:prstGeom prst="roundRect">
            <a:avLst/>
          </a:prstGeom>
          <a:solidFill>
            <a:srgbClr val="FF747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33" name="Picture 32" descr="charge_ratio_distribution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" y="956310"/>
            <a:ext cx="17808575" cy="55626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 rot="-10800000">
            <a:off x="-304800" y="-114300"/>
            <a:ext cx="2655819" cy="4132861"/>
          </a:xfrm>
          <a:custGeom>
            <a:avLst/>
            <a:gdLst/>
            <a:ahLst/>
            <a:cxnLst/>
            <a:rect l="l" t="t" r="r" b="b"/>
            <a:pathLst>
              <a:path w="2655819" h="4132861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191000" y="274320"/>
            <a:ext cx="9449435" cy="6819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4200"/>
              </a:lnSpc>
            </a:pPr>
            <a:r>
              <a:rPr lang="en-IN" altLang="en-US" sz="2400" b="1" spc="29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NATIONAL DISTRIBUTION OF CHARGE RATIO</a:t>
            </a:r>
            <a:endParaRPr lang="en-IN" altLang="en-US" sz="2400" b="1" spc="29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pic>
        <p:nvPicPr>
          <p:cNvPr id="21" name="Picture 20" descr="EXL_Service_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266700"/>
            <a:ext cx="1104900" cy="408305"/>
          </a:xfrm>
          <a:prstGeom prst="rect">
            <a:avLst/>
          </a:prstGeom>
        </p:spPr>
      </p:pic>
      <p:sp>
        <p:nvSpPr>
          <p:cNvPr id="31" name="TextBox 6"/>
          <p:cNvSpPr txBox="1"/>
          <p:nvPr/>
        </p:nvSpPr>
        <p:spPr>
          <a:xfrm>
            <a:off x="-685800" y="38100"/>
            <a:ext cx="5518785" cy="10020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IN" altLang="en-US" sz="4000" b="1" spc="300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TASK 02B</a:t>
            </a:r>
            <a:endParaRPr lang="en-IN" altLang="en-US" sz="4000" b="1" spc="300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sp>
        <p:nvSpPr>
          <p:cNvPr id="124" name="Freeform 22"/>
          <p:cNvSpPr/>
          <p:nvPr/>
        </p:nvSpPr>
        <p:spPr>
          <a:xfrm rot="18540000" flipH="1" flipV="1">
            <a:off x="3451397" y="-109145"/>
            <a:ext cx="802634" cy="832087"/>
          </a:xfrm>
          <a:custGeom>
            <a:avLst/>
            <a:gdLst/>
            <a:ahLst/>
            <a:cxnLst/>
            <a:rect l="l" t="t" r="r" b="b"/>
            <a:pathLst>
              <a:path w="802634" h="832087">
                <a:moveTo>
                  <a:pt x="802634" y="832087"/>
                </a:moveTo>
                <a:lnTo>
                  <a:pt x="0" y="832087"/>
                </a:lnTo>
                <a:lnTo>
                  <a:pt x="0" y="0"/>
                </a:lnTo>
                <a:lnTo>
                  <a:pt x="802634" y="0"/>
                </a:lnTo>
                <a:lnTo>
                  <a:pt x="802634" y="8320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53265"/>
            </a:stretch>
          </a:blipFill>
        </p:spPr>
      </p:sp>
      <p:sp>
        <p:nvSpPr>
          <p:cNvPr id="44" name="Rounded Rectangle 43"/>
          <p:cNvSpPr/>
          <p:nvPr/>
        </p:nvSpPr>
        <p:spPr>
          <a:xfrm>
            <a:off x="12649200" y="2853055"/>
            <a:ext cx="4119880" cy="175069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2" name="TextBox 7"/>
          <p:cNvSpPr txBox="1"/>
          <p:nvPr/>
        </p:nvSpPr>
        <p:spPr>
          <a:xfrm>
            <a:off x="12602845" y="2789555"/>
            <a:ext cx="4185285" cy="180657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algn="ctr">
              <a:lnSpc>
                <a:spcPts val="3500"/>
              </a:lnSpc>
              <a:buClrTx/>
              <a:buSzTx/>
              <a:buFontTx/>
            </a:pPr>
            <a:r>
              <a:rPr lang="en-IN" altLang="en-US" sz="2000" b="1" u="sng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Question</a:t>
            </a:r>
            <a:r>
              <a:rPr lang="en-IN" altLang="en-US" sz="2000" b="1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: </a:t>
            </a:r>
            <a:br>
              <a:rPr lang="en-US" altLang="en-GB" sz="20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</a:br>
            <a:r>
              <a:rPr lang="en-US" altLang="en-GB" sz="20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Create a view of the national charge ratio distribution. Describe what you find.</a:t>
            </a:r>
            <a:endParaRPr lang="en-US" altLang="en-GB" sz="2000" spc="40">
              <a:solidFill>
                <a:srgbClr val="373739"/>
              </a:solidFill>
              <a:latin typeface="Ballpoint"/>
              <a:ea typeface="Ballpoint"/>
              <a:cs typeface="Ballpoint"/>
              <a:sym typeface="Glacial Indifference"/>
            </a:endParaRPr>
          </a:p>
        </p:txBody>
      </p:sp>
      <p:sp>
        <p:nvSpPr>
          <p:cNvPr id="42" name="TextBox 28"/>
          <p:cNvSpPr txBox="1"/>
          <p:nvPr/>
        </p:nvSpPr>
        <p:spPr>
          <a:xfrm>
            <a:off x="1066800" y="6667659"/>
            <a:ext cx="4207620" cy="30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IN" altLang="en-US" sz="2400" b="1" u="sng" spc="23">
                <a:solidFill>
                  <a:srgbClr val="373739"/>
                </a:solidFill>
                <a:latin typeface="Ballpoint"/>
                <a:ea typeface="Ballpoint"/>
                <a:cs typeface="Ballpoint"/>
                <a:sym typeface="Ballpoint"/>
              </a:rPr>
              <a:t>OBSERVATION:</a:t>
            </a:r>
            <a:endParaRPr lang="en-IN" altLang="en-US" sz="2400" b="1" u="sng" spc="23">
              <a:solidFill>
                <a:srgbClr val="373739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35" name="TextBox 28"/>
          <p:cNvSpPr txBox="1"/>
          <p:nvPr/>
        </p:nvSpPr>
        <p:spPr>
          <a:xfrm>
            <a:off x="1066800" y="7016274"/>
            <a:ext cx="16480155" cy="12865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457200" lvl="0" indent="-457200" algn="l">
              <a:lnSpc>
                <a:spcPts val="292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GB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Right-Skewed </a:t>
            </a:r>
            <a:r>
              <a:rPr lang="en-IN" altLang="en-US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- </a:t>
            </a:r>
            <a:r>
              <a:rPr lang="en-US" altLang="en-GB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Most hospitals cluster at 3</a:t>
            </a:r>
            <a:r>
              <a:rPr lang="en-IN" altLang="en-US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-</a:t>
            </a:r>
            <a:r>
              <a:rPr lang="en-US" altLang="en-GB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6x. A small tail reaches </a:t>
            </a:r>
            <a:r>
              <a:rPr lang="en-IN" altLang="en-US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beyond 20x</a:t>
            </a:r>
            <a:r>
              <a:rPr lang="en-US" altLang="en-GB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.</a:t>
            </a:r>
            <a:endParaRPr lang="en-US" altLang="en-GB" sz="2900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Ballpoint"/>
            </a:endParaRPr>
          </a:p>
          <a:p>
            <a:pPr marL="457200" lvl="0" indent="-457200" algn="l">
              <a:lnSpc>
                <a:spcPts val="292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GB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Mean vs Median</a:t>
            </a:r>
            <a:r>
              <a:rPr lang="en-IN" altLang="en-US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 - </a:t>
            </a:r>
            <a:r>
              <a:rPr lang="en-US" altLang="en-GB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Median 4.</a:t>
            </a:r>
            <a:r>
              <a:rPr lang="en-IN" altLang="en-US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5</a:t>
            </a:r>
            <a:r>
              <a:rPr lang="en-US" altLang="en-GB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x vs Mean 5.</a:t>
            </a:r>
            <a:r>
              <a:rPr lang="en-IN" altLang="en-US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1</a:t>
            </a:r>
            <a:r>
              <a:rPr lang="en-US" altLang="en-GB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x. Gap = </a:t>
            </a:r>
            <a:r>
              <a:rPr lang="en-IN" altLang="en-US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O</a:t>
            </a:r>
            <a:r>
              <a:rPr lang="en-US" altLang="en-GB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utliers pulling average up.</a:t>
            </a:r>
            <a:endParaRPr lang="en-US" altLang="en-GB" sz="2900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  <a:sym typeface="Ballpoint"/>
            </a:endParaRPr>
          </a:p>
          <a:p>
            <a:pPr marL="457200" lvl="0" indent="-457200" algn="l">
              <a:lnSpc>
                <a:spcPts val="292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GB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The tail is the target</a:t>
            </a:r>
            <a:r>
              <a:rPr lang="en-IN" altLang="en-US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 - </a:t>
            </a:r>
            <a:r>
              <a:rPr lang="en-US" altLang="en-GB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200 hospitals above 10x = 6.3% of providers = </a:t>
            </a:r>
            <a:r>
              <a:rPr lang="en-IN" altLang="en-US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H</a:t>
            </a:r>
            <a:r>
              <a:rPr lang="en-US" altLang="en-GB" sz="29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Ballpoint"/>
              </a:rPr>
              <a:t>ighest audit risk</a:t>
            </a:r>
            <a:r>
              <a:rPr lang="en-US" altLang="en-GB" sz="24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Ballpoint"/>
              </a:rPr>
              <a:t>.</a:t>
            </a:r>
            <a:endParaRPr lang="en-US" altLang="en-GB" sz="2400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Ballpoint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1295400" y="8496459"/>
            <a:ext cx="1610868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ts val="4200"/>
              </a:lnSpc>
              <a:buClrTx/>
              <a:buSzTx/>
              <a:buFontTx/>
            </a:pPr>
            <a:r>
              <a:rPr lang="en-IN" altLang="en-US" sz="2400" b="1" spc="29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</a:rPr>
              <a:t>“MEDICARE PAYS ONLY 19.2 CENTS FOR EVERY DOLLAR BILLED. AT EXTREME CASES AS LOW AS 1.4CENTS”</a:t>
            </a:r>
            <a:endParaRPr lang="en-IN" altLang="en-US" sz="2400" b="1" spc="29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mdc05_by_state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5290" y="101600"/>
            <a:ext cx="8891905" cy="995299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 rot="720000" flipH="1">
            <a:off x="-1028065" y="6675120"/>
            <a:ext cx="3544570" cy="5144770"/>
          </a:xfrm>
          <a:custGeom>
            <a:avLst/>
            <a:gdLst/>
            <a:ahLst/>
            <a:cxnLst/>
            <a:rect l="l" t="t" r="r" b="b"/>
            <a:pathLst>
              <a:path w="5985173" h="7727790">
                <a:moveTo>
                  <a:pt x="5985173" y="0"/>
                </a:moveTo>
                <a:lnTo>
                  <a:pt x="0" y="0"/>
                </a:lnTo>
                <a:lnTo>
                  <a:pt x="0" y="7727790"/>
                </a:lnTo>
                <a:lnTo>
                  <a:pt x="5985173" y="7727790"/>
                </a:lnTo>
                <a:lnTo>
                  <a:pt x="59851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GB" altLang="en-US"/>
          </a:p>
        </p:txBody>
      </p:sp>
      <p:sp>
        <p:nvSpPr>
          <p:cNvPr id="4" name="Freeform 4"/>
          <p:cNvSpPr/>
          <p:nvPr/>
        </p:nvSpPr>
        <p:spPr>
          <a:xfrm rot="13020000">
            <a:off x="-212725" y="-1176655"/>
            <a:ext cx="2655819" cy="4132861"/>
          </a:xfrm>
          <a:custGeom>
            <a:avLst/>
            <a:gdLst/>
            <a:ahLst/>
            <a:cxnLst/>
            <a:rect l="l" t="t" r="r" b="b"/>
            <a:pathLst>
              <a:path w="2655819" h="4132861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04800" y="-38100"/>
            <a:ext cx="4373245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IN" altLang="en-US" sz="4000" b="1" spc="300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TASK 02C</a:t>
            </a:r>
            <a:endParaRPr lang="en-IN" altLang="en-US" sz="4000" b="1" spc="300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91000" y="1546860"/>
            <a:ext cx="4752975" cy="20923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3360"/>
              </a:lnSpc>
            </a:pPr>
            <a:r>
              <a:rPr lang="en-US" altLang="en-GB" sz="24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MDC 05 Circulatory</a:t>
            </a:r>
            <a:r>
              <a:rPr lang="en-IN" altLang="en-US" sz="24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- </a:t>
            </a:r>
            <a:r>
              <a:rPr lang="en-US" altLang="en-GB" sz="24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1.63M patients treated, highest </a:t>
            </a:r>
            <a:br>
              <a:rPr lang="en-US" altLang="en-GB" sz="24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</a:br>
            <a:r>
              <a:rPr lang="en-US" altLang="en-GB" sz="24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volume MDC in dataset.</a:t>
            </a:r>
            <a:r>
              <a:rPr lang="en-IN" altLang="en-US" sz="24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Most reliable for geographic comparison.</a:t>
            </a:r>
            <a:endParaRPr lang="en-IN" altLang="en-US" sz="2400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114800" y="114300"/>
            <a:ext cx="8240395" cy="3816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IN" altLang="en-US" sz="25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GEOGRAPHIC PAYMENT VARIATION</a:t>
            </a:r>
            <a:endParaRPr lang="en-IN" altLang="en-US" sz="2500" b="1" spc="24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038600" y="1181100"/>
            <a:ext cx="4716145" cy="61976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IN" altLang="en-US" sz="2200" b="1" spc="219">
                <a:solidFill>
                  <a:srgbClr val="E97142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MDC 05 CHOSEN</a:t>
            </a:r>
            <a:endParaRPr lang="en-IN" altLang="en-US" sz="2200" b="1" spc="219">
              <a:solidFill>
                <a:srgbClr val="E97142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pic>
        <p:nvPicPr>
          <p:cNvPr id="12" name="Picture 11" descr="EXL_Service_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3000" y="9073515"/>
            <a:ext cx="1247775" cy="461645"/>
          </a:xfrm>
          <a:prstGeom prst="rect">
            <a:avLst/>
          </a:prstGeom>
        </p:spPr>
      </p:pic>
      <p:sp>
        <p:nvSpPr>
          <p:cNvPr id="124" name="Freeform 22"/>
          <p:cNvSpPr/>
          <p:nvPr/>
        </p:nvSpPr>
        <p:spPr>
          <a:xfrm rot="17400000" flipH="1" flipV="1">
            <a:off x="3218815" y="-119380"/>
            <a:ext cx="596265" cy="815975"/>
          </a:xfrm>
          <a:custGeom>
            <a:avLst/>
            <a:gdLst/>
            <a:ahLst/>
            <a:cxnLst/>
            <a:rect l="l" t="t" r="r" b="b"/>
            <a:pathLst>
              <a:path w="802634" h="832087">
                <a:moveTo>
                  <a:pt x="802634" y="832087"/>
                </a:moveTo>
                <a:lnTo>
                  <a:pt x="0" y="832087"/>
                </a:lnTo>
                <a:lnTo>
                  <a:pt x="0" y="0"/>
                </a:lnTo>
                <a:lnTo>
                  <a:pt x="802634" y="0"/>
                </a:lnTo>
                <a:lnTo>
                  <a:pt x="802634" y="83208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53265"/>
            </a:stretch>
          </a:blipFill>
        </p:spPr>
      </p:sp>
      <p:sp>
        <p:nvSpPr>
          <p:cNvPr id="15" name="Text Box 14"/>
          <p:cNvSpPr txBox="1"/>
          <p:nvPr/>
        </p:nvSpPr>
        <p:spPr>
          <a:xfrm>
            <a:off x="405130" y="1333500"/>
            <a:ext cx="3365500" cy="1993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algn="l">
              <a:lnSpc>
                <a:spcPts val="3500"/>
              </a:lnSpc>
              <a:buClrTx/>
              <a:buSzTx/>
              <a:buFontTx/>
            </a:pPr>
            <a:r>
              <a:rPr lang="en-IN" altLang="en-US" sz="2400" b="1" u="sng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Question</a:t>
            </a:r>
            <a:r>
              <a:rPr lang="en-IN" altLang="en-US" sz="2400" b="1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: </a:t>
            </a:r>
            <a:br>
              <a:rPr lang="en-US" altLang="en-GB" sz="24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</a:br>
            <a: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Pick a top MDC. How do payments vary geographically?</a:t>
            </a:r>
            <a:endParaRPr lang="en-US" altLang="en-GB" sz="2400" spc="40">
              <a:solidFill>
                <a:srgbClr val="373739"/>
              </a:solidFill>
              <a:latin typeface="Ballpoint"/>
              <a:ea typeface="Ballpoint"/>
              <a:cs typeface="Ballpoint"/>
              <a:sym typeface="Glacial Indifference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89890" y="1073150"/>
            <a:ext cx="3344545" cy="256857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4030980" y="1057910"/>
            <a:ext cx="4941570" cy="270573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0" name="Round Single Corner Rectangle 19"/>
          <p:cNvSpPr/>
          <p:nvPr/>
        </p:nvSpPr>
        <p:spPr>
          <a:xfrm>
            <a:off x="609600" y="4000500"/>
            <a:ext cx="8077200" cy="4685665"/>
          </a:xfrm>
          <a:prstGeom prst="round1Rect">
            <a:avLst/>
          </a:prstGeom>
          <a:solidFill>
            <a:srgbClr val="FFDA6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1" name="Text Box 20"/>
          <p:cNvSpPr txBox="1"/>
          <p:nvPr/>
        </p:nvSpPr>
        <p:spPr>
          <a:xfrm>
            <a:off x="762000" y="4000500"/>
            <a:ext cx="7715250" cy="3858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IN" altLang="en-US" sz="2500" b="1" u="sng" spc="23">
                <a:solidFill>
                  <a:srgbClr val="373739"/>
                </a:solidFill>
                <a:latin typeface="Ballpoint"/>
                <a:ea typeface="Ballpoint"/>
                <a:cs typeface="Ballpoint"/>
              </a:rPr>
              <a:t>KEY FINDINGS:</a:t>
            </a:r>
            <a:endParaRPr lang="en-IN" altLang="en-US" sz="2500" b="1" u="sng" spc="23">
              <a:solidFill>
                <a:srgbClr val="373739"/>
              </a:solidFill>
              <a:latin typeface="Ballpoint"/>
              <a:ea typeface="Ballpoint"/>
              <a:cs typeface="Ballpoint"/>
            </a:endParaRPr>
          </a:p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Alaska $21,508 vs Alabama $</a:t>
            </a:r>
            <a:r>
              <a:rPr lang="en-IN" altLang="en-US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10</a:t>
            </a: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,426</a:t>
            </a:r>
            <a:r>
              <a:rPr lang="en-IN" altLang="en-US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 which is</a:t>
            </a: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 same treatment, 2x payment difference</a:t>
            </a:r>
            <a:endParaRPr lang="en-US" altLang="en-GB" sz="2500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</a:endParaRPr>
          </a:p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Nevada </a:t>
            </a:r>
            <a:r>
              <a:rPr lang="en-IN" altLang="en-US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(</a:t>
            </a: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 $14,327</a:t>
            </a:r>
            <a:r>
              <a:rPr lang="en-IN" altLang="en-US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) with </a:t>
            </a: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9.03x charge ratio</a:t>
            </a:r>
            <a:r>
              <a:rPr lang="en-IN" altLang="en-US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 is </a:t>
            </a: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highest overbilling state for heart treatments</a:t>
            </a:r>
            <a:r>
              <a:rPr lang="en-IN" altLang="en-US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.</a:t>
            </a:r>
            <a:endParaRPr lang="en-IN" altLang="en-US" sz="2500">
              <a:solidFill>
                <a:srgbClr val="373739"/>
              </a:solidFill>
              <a:latin typeface="Futura" panose="020B0502020204020303"/>
              <a:ea typeface="Futura" panose="020B0502020204020303"/>
              <a:cs typeface="Futura" panose="020B0502020204020303"/>
            </a:endParaRPr>
          </a:p>
          <a:p>
            <a:pPr marL="457200" indent="-45720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+mn-ea"/>
              </a:rPr>
              <a:t>Maryland</a:t>
            </a:r>
            <a:r>
              <a:rPr lang="en-IN" altLang="en-US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+mn-ea"/>
              </a:rPr>
              <a:t> (</a:t>
            </a: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+mn-ea"/>
              </a:rPr>
              <a:t>$17,220</a:t>
            </a:r>
            <a:r>
              <a:rPr lang="en-IN" altLang="en-US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+mn-ea"/>
              </a:rPr>
              <a:t>)</a:t>
            </a: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+mn-ea"/>
              </a:rPr>
              <a:t> </a:t>
            </a:r>
            <a:r>
              <a:rPr lang="en-IN" altLang="en-US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+mn-ea"/>
              </a:rPr>
              <a:t>with </a:t>
            </a: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+mn-ea"/>
              </a:rPr>
              <a:t>1.22x </a:t>
            </a:r>
            <a:r>
              <a:rPr lang="en-IN" altLang="en-US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+mn-ea"/>
              </a:rPr>
              <a:t>is </a:t>
            </a: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  <a:sym typeface="+mn-ea"/>
              </a:rPr>
              <a:t>lowest overbilling in country. Only US state with government-regulated billing rates (All-Payer Model).</a:t>
            </a:r>
            <a:r>
              <a:rPr lang="en-US" altLang="en-GB" sz="2500">
                <a:solidFill>
                  <a:srgbClr val="373739"/>
                </a:solidFill>
                <a:latin typeface="Futura" panose="020B0502020204020303"/>
                <a:ea typeface="Futura" panose="020B0502020204020303"/>
                <a:cs typeface="Futura" panose="020B0502020204020303"/>
              </a:rPr>
              <a:t> </a:t>
            </a:r>
            <a:endParaRPr lang="en-IN" altLang="en-US" sz="2500" b="1" spc="29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4400" y="7200900"/>
            <a:ext cx="7315200" cy="10433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6" name="Text Box 25"/>
          <p:cNvSpPr txBox="1"/>
          <p:nvPr/>
        </p:nvSpPr>
        <p:spPr>
          <a:xfrm>
            <a:off x="1219200" y="7370445"/>
            <a:ext cx="64496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IN" altLang="en-US" b="1" spc="29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+mn-ea"/>
              </a:rPr>
              <a:t>“MARYLAND(MD) ALL-PAYER MODEL PROVES REGULATION CONTROLS BILLING VARIATION”</a:t>
            </a:r>
            <a:endParaRPr lang="en-IN" altLang="en-GB"/>
          </a:p>
        </p:txBody>
      </p:sp>
      <p:sp>
        <p:nvSpPr>
          <p:cNvPr id="27" name="Freeform 3"/>
          <p:cNvSpPr/>
          <p:nvPr/>
        </p:nvSpPr>
        <p:spPr>
          <a:xfrm rot="6120000" flipH="1">
            <a:off x="-298450" y="8340090"/>
            <a:ext cx="3544570" cy="5144770"/>
          </a:xfrm>
          <a:custGeom>
            <a:avLst/>
            <a:gdLst/>
            <a:ahLst/>
            <a:cxnLst/>
            <a:rect l="l" t="t" r="r" b="b"/>
            <a:pathLst>
              <a:path w="5985173" h="7727790">
                <a:moveTo>
                  <a:pt x="5985173" y="0"/>
                </a:moveTo>
                <a:lnTo>
                  <a:pt x="0" y="0"/>
                </a:lnTo>
                <a:lnTo>
                  <a:pt x="0" y="7727790"/>
                </a:lnTo>
                <a:lnTo>
                  <a:pt x="5985173" y="7727790"/>
                </a:lnTo>
                <a:lnTo>
                  <a:pt x="59851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11883424">
            <a:off x="-2175609" y="-3194715"/>
            <a:ext cx="7511977" cy="96991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7" y="0"/>
                </a:lnTo>
                <a:lnTo>
                  <a:pt x="7511977" y="9699130"/>
                </a:lnTo>
                <a:lnTo>
                  <a:pt x="0" y="96991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3440000" flipH="1">
            <a:off x="16455141" y="7129780"/>
            <a:ext cx="2655819" cy="4132861"/>
          </a:xfrm>
          <a:custGeom>
            <a:avLst/>
            <a:gdLst/>
            <a:ahLst/>
            <a:cxnLst/>
            <a:rect l="l" t="t" r="r" b="b"/>
            <a:pathLst>
              <a:path w="2655819" h="4132861">
                <a:moveTo>
                  <a:pt x="2655819" y="0"/>
                </a:moveTo>
                <a:lnTo>
                  <a:pt x="0" y="0"/>
                </a:lnTo>
                <a:lnTo>
                  <a:pt x="0" y="4132861"/>
                </a:lnTo>
                <a:lnTo>
                  <a:pt x="2655819" y="4132861"/>
                </a:lnTo>
                <a:lnTo>
                  <a:pt x="265581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914400" y="190500"/>
            <a:ext cx="3843020" cy="131191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IN" altLang="en-US" sz="4000" b="1" spc="300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TASK 03A</a:t>
            </a:r>
            <a:endParaRPr lang="en-IN" altLang="en-US" sz="4000" b="1" spc="300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sp>
        <p:nvSpPr>
          <p:cNvPr id="25" name="TextBox 10"/>
          <p:cNvSpPr txBox="1"/>
          <p:nvPr/>
        </p:nvSpPr>
        <p:spPr>
          <a:xfrm>
            <a:off x="4952745" y="647860"/>
            <a:ext cx="849968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altLang="en-GB" sz="25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O</a:t>
            </a:r>
            <a:r>
              <a:rPr lang="en-IN" altLang="en-US" sz="25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WNERSHIP MIX</a:t>
            </a:r>
            <a:endParaRPr lang="en-IN" altLang="en-US" sz="2500" b="1" spc="24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pic>
        <p:nvPicPr>
          <p:cNvPr id="26" name="Picture 25" descr="ownership_mi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1276985"/>
            <a:ext cx="12367260" cy="8827135"/>
          </a:xfrm>
          <a:prstGeom prst="rect">
            <a:avLst/>
          </a:prstGeom>
        </p:spPr>
      </p:pic>
      <p:sp>
        <p:nvSpPr>
          <p:cNvPr id="27" name="Freeform 5"/>
          <p:cNvSpPr/>
          <p:nvPr/>
        </p:nvSpPr>
        <p:spPr>
          <a:xfrm rot="14523424">
            <a:off x="16462375" y="10200005"/>
            <a:ext cx="4107815" cy="3857625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7" y="0"/>
                </a:lnTo>
                <a:lnTo>
                  <a:pt x="7511977" y="9699130"/>
                </a:lnTo>
                <a:lnTo>
                  <a:pt x="0" y="96991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28" name="Picture 27" descr="EXL_Service_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9563100"/>
            <a:ext cx="1188720" cy="439420"/>
          </a:xfrm>
          <a:prstGeom prst="rect">
            <a:avLst/>
          </a:prstGeom>
        </p:spPr>
      </p:pic>
      <p:sp>
        <p:nvSpPr>
          <p:cNvPr id="30" name="Text Box 29"/>
          <p:cNvSpPr txBox="1"/>
          <p:nvPr/>
        </p:nvSpPr>
        <p:spPr>
          <a:xfrm>
            <a:off x="12649200" y="114300"/>
            <a:ext cx="5295265" cy="1706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algn="ctr">
              <a:lnSpc>
                <a:spcPts val="3500"/>
              </a:lnSpc>
              <a:buClrTx/>
              <a:buSzTx/>
              <a:buFontTx/>
            </a:pPr>
            <a:r>
              <a:rPr lang="en-IN" altLang="en-US" sz="2400" b="1" u="sng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Question</a:t>
            </a:r>
            <a:r>
              <a:rPr lang="en-IN" altLang="en-US" sz="2400" b="1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: </a:t>
            </a:r>
            <a:br>
              <a:rPr lang="en-US" altLang="en-GB" sz="24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</a:br>
            <a:r>
              <a:rPr lang="en-US" altLang="en-GB" sz="22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Summarise hospital ownership mix in the most informative way.</a:t>
            </a:r>
            <a:endParaRPr lang="en-US" altLang="en-GB" sz="2200" spc="40">
              <a:solidFill>
                <a:srgbClr val="373739"/>
              </a:solidFill>
              <a:latin typeface="Ballpoint"/>
              <a:ea typeface="Ballpoint"/>
              <a:cs typeface="Ballpoint"/>
              <a:sym typeface="Glacial Indifference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2496800" y="190500"/>
            <a:ext cx="5592445" cy="152463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aphicFrame>
        <p:nvGraphicFramePr>
          <p:cNvPr id="32" name="Table 31"/>
          <p:cNvGraphicFramePr/>
          <p:nvPr>
            <p:custDataLst>
              <p:tags r:id="rId7"/>
            </p:custDataLst>
          </p:nvPr>
        </p:nvGraphicFramePr>
        <p:xfrm>
          <a:off x="12573000" y="2019300"/>
          <a:ext cx="5405755" cy="3750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970"/>
                <a:gridCol w="1902460"/>
                <a:gridCol w="1457325"/>
              </a:tblGrid>
              <a:tr h="751840"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b="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OWNERSHIP</a:t>
                      </a:r>
                      <a:endParaRPr lang="en-US" altLang="en-GB" sz="2100" b="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b="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HOSPITALS</a:t>
                      </a:r>
                      <a:endParaRPr lang="en-US" altLang="en-GB" sz="2100" b="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IN" altLang="en-US" sz="1800" b="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(Full Register)</a:t>
                      </a:r>
                      <a:endParaRPr lang="en-IN" altLang="en-US" sz="1800" b="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b="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CHARGE RATIO</a:t>
                      </a:r>
                      <a:endParaRPr lang="en-US" altLang="en-GB" sz="2100" b="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  <a:tr h="701040"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For-Profit</a:t>
                      </a:r>
                      <a:endParaRPr lang="en-US" altLang="en-GB" sz="21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1,069 (20%)</a:t>
                      </a:r>
                      <a:endParaRPr lang="en-US" altLang="en-GB" sz="21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8.50x</a:t>
                      </a:r>
                      <a:endParaRPr lang="en-US" altLang="en-GB" sz="21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  <a:tr h="701675"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Non-profit</a:t>
                      </a:r>
                      <a:endParaRPr lang="en-US" altLang="en-GB" sz="21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2,304 (42%)</a:t>
                      </a:r>
                      <a:endParaRPr lang="en-US" altLang="en-GB" sz="21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5.10x</a:t>
                      </a:r>
                      <a:endParaRPr lang="en-US" altLang="en-GB" sz="21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  <a:tr h="701040"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Govt Local</a:t>
                      </a:r>
                      <a:endParaRPr lang="en-US" altLang="en-GB" sz="21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401 (7%)</a:t>
                      </a:r>
                      <a:endParaRPr lang="en-US" altLang="en-GB" sz="21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4.16x</a:t>
                      </a:r>
                      <a:endParaRPr lang="en-US" altLang="en-GB" sz="21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  <a:tr h="701675"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Tribal</a:t>
                      </a:r>
                      <a:endParaRPr lang="en-US" altLang="en-GB" sz="21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15 (&lt;1%)</a:t>
                      </a:r>
                      <a:endParaRPr lang="en-US" altLang="en-GB" sz="21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ts val="336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1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1.34x</a:t>
                      </a:r>
                      <a:endParaRPr lang="en-US" altLang="en-GB" sz="21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4" name="Freeform 22"/>
          <p:cNvSpPr/>
          <p:nvPr/>
        </p:nvSpPr>
        <p:spPr>
          <a:xfrm rot="18120000" flipH="1" flipV="1">
            <a:off x="4396740" y="137160"/>
            <a:ext cx="596265" cy="815975"/>
          </a:xfrm>
          <a:custGeom>
            <a:avLst/>
            <a:gdLst/>
            <a:ahLst/>
            <a:cxnLst/>
            <a:rect l="l" t="t" r="r" b="b"/>
            <a:pathLst>
              <a:path w="802634" h="832087">
                <a:moveTo>
                  <a:pt x="802634" y="832087"/>
                </a:moveTo>
                <a:lnTo>
                  <a:pt x="0" y="832087"/>
                </a:lnTo>
                <a:lnTo>
                  <a:pt x="0" y="0"/>
                </a:lnTo>
                <a:lnTo>
                  <a:pt x="802634" y="0"/>
                </a:lnTo>
                <a:lnTo>
                  <a:pt x="802634" y="83208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53265"/>
            </a:stretch>
          </a:blipFill>
        </p:spPr>
      </p:sp>
      <p:sp>
        <p:nvSpPr>
          <p:cNvPr id="33" name="Rounded Rectangle 32"/>
          <p:cNvSpPr/>
          <p:nvPr/>
        </p:nvSpPr>
        <p:spPr>
          <a:xfrm>
            <a:off x="12623800" y="6131560"/>
            <a:ext cx="5321300" cy="357314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4" name="Text Box 33"/>
          <p:cNvSpPr txBox="1"/>
          <p:nvPr/>
        </p:nvSpPr>
        <p:spPr>
          <a:xfrm>
            <a:off x="12801600" y="6134100"/>
            <a:ext cx="4998085" cy="2372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algn="l">
              <a:lnSpc>
                <a:spcPts val="3360"/>
              </a:lnSpc>
              <a:buClrTx/>
              <a:buSzTx/>
              <a:buFontTx/>
            </a:pPr>
            <a:r>
              <a:rPr lang="en-IN" altLang="en-US" sz="2200" b="1" spc="219">
                <a:solidFill>
                  <a:srgbClr val="E97142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  <a:t>INSIGHTS:</a:t>
            </a:r>
            <a:br>
              <a:rPr lang="en-US" altLang="en-GB" sz="24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</a:br>
            <a:r>
              <a:rPr lang="en-US" altLang="en-GB" sz="21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For-profit hospitals are 20% of providers but charge 67% more than non-profits</a:t>
            </a:r>
            <a:r>
              <a:rPr lang="en-IN" altLang="en-US" sz="21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 at 5.10x</a:t>
            </a:r>
            <a:r>
              <a:rPr lang="en-US" altLang="en-GB" sz="21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.</a:t>
            </a:r>
            <a:endParaRPr lang="en-US" altLang="en-GB" sz="2100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Glacial Indifference"/>
            </a:endParaRPr>
          </a:p>
          <a:p>
            <a:pPr marL="0" lvl="0" algn="l">
              <a:lnSpc>
                <a:spcPts val="3360"/>
              </a:lnSpc>
              <a:buClrTx/>
              <a:buSzTx/>
              <a:buFontTx/>
            </a:pPr>
            <a:r>
              <a:rPr lang="en-US" altLang="en-GB" sz="21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Ownership type shows the strongest observable pattern in billing behaviour across all hospital segments.</a:t>
            </a:r>
            <a:endParaRPr lang="en-US" altLang="en-GB" sz="2100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Glacial Indifferenc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mdc_by_ownership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400" y="734695"/>
            <a:ext cx="18979515" cy="5168265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-2083342">
            <a:off x="13681710" y="-5583555"/>
            <a:ext cx="6643370" cy="94475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6" y="0"/>
                </a:lnTo>
                <a:lnTo>
                  <a:pt x="7511976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1400000">
            <a:off x="-381000" y="-76200"/>
            <a:ext cx="2655819" cy="4132861"/>
          </a:xfrm>
          <a:custGeom>
            <a:avLst/>
            <a:gdLst/>
            <a:ahLst/>
            <a:cxnLst/>
            <a:rect l="l" t="t" r="r" b="b"/>
            <a:pathLst>
              <a:path w="2655819" h="4132861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520000">
            <a:off x="15990734" y="-6058151"/>
            <a:ext cx="6236806" cy="8052686"/>
          </a:xfrm>
          <a:custGeom>
            <a:avLst/>
            <a:gdLst/>
            <a:ahLst/>
            <a:cxnLst/>
            <a:rect l="l" t="t" r="r" b="b"/>
            <a:pathLst>
              <a:path w="6236806" h="8052686">
                <a:moveTo>
                  <a:pt x="0" y="0"/>
                </a:moveTo>
                <a:lnTo>
                  <a:pt x="6236806" y="0"/>
                </a:lnTo>
                <a:lnTo>
                  <a:pt x="6236806" y="8052686"/>
                </a:lnTo>
                <a:lnTo>
                  <a:pt x="0" y="8052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 descr="EXL_Service_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73400" y="266700"/>
            <a:ext cx="1259205" cy="465455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78105" y="190500"/>
            <a:ext cx="5296535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IN" altLang="en-US" sz="4000" b="1" spc="300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TASK 03B</a:t>
            </a:r>
            <a:endParaRPr lang="en-IN" altLang="en-US" sz="4000" b="1" spc="300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181345" y="190660"/>
            <a:ext cx="849968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IN" altLang="en-US" sz="25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MDC MIX BY OWNERSHIP</a:t>
            </a:r>
            <a:endParaRPr lang="en-US" altLang="en-GB" sz="2500" b="1" spc="24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124" name="Freeform 22"/>
          <p:cNvSpPr/>
          <p:nvPr/>
        </p:nvSpPr>
        <p:spPr>
          <a:xfrm rot="17040000" flipH="1" flipV="1">
            <a:off x="4216400" y="-147320"/>
            <a:ext cx="603250" cy="1162050"/>
          </a:xfrm>
          <a:custGeom>
            <a:avLst/>
            <a:gdLst/>
            <a:ahLst/>
            <a:cxnLst/>
            <a:rect l="l" t="t" r="r" b="b"/>
            <a:pathLst>
              <a:path w="802634" h="832087">
                <a:moveTo>
                  <a:pt x="802634" y="832087"/>
                </a:moveTo>
                <a:lnTo>
                  <a:pt x="0" y="832087"/>
                </a:lnTo>
                <a:lnTo>
                  <a:pt x="0" y="0"/>
                </a:lnTo>
                <a:lnTo>
                  <a:pt x="802634" y="0"/>
                </a:lnTo>
                <a:lnTo>
                  <a:pt x="802634" y="83208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53265"/>
            </a:stretch>
          </a:blipFill>
        </p:spPr>
      </p:sp>
      <p:graphicFrame>
        <p:nvGraphicFramePr>
          <p:cNvPr id="15" name="Table 14"/>
          <p:cNvGraphicFramePr/>
          <p:nvPr>
            <p:custDataLst>
              <p:tags r:id="rId9"/>
            </p:custDataLst>
          </p:nvPr>
        </p:nvGraphicFramePr>
        <p:xfrm>
          <a:off x="368300" y="5743575"/>
          <a:ext cx="7614920" cy="4119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290"/>
                <a:gridCol w="2248535"/>
                <a:gridCol w="3173095"/>
              </a:tblGrid>
              <a:tr h="6489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altLang="en-GB" sz="1900" spc="13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PATTERN</a:t>
                      </a:r>
                      <a:endParaRPr lang="en-IN" altLang="en-GB" sz="1900" spc="13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altLang="en-US" sz="1900" spc="13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OWNERSHIP</a:t>
                      </a:r>
                      <a:endParaRPr lang="en-IN" altLang="en-US" sz="1900" spc="13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altLang="en-GB" sz="1900" spc="130">
                          <a:latin typeface="Microsoft YaHei" panose="020B0503020204020204" charset="-122"/>
                          <a:ea typeface="Microsoft YaHei" panose="020B0503020204020204" charset="-122"/>
                        </a:rPr>
                        <a:t>KEY NUMBER</a:t>
                      </a:r>
                      <a:endParaRPr lang="en-IN" altLang="en-GB" sz="1900" spc="130"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93789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altLang="en-GB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  <a:sym typeface="+mn-ea"/>
                        </a:rPr>
                        <a:t>UNIVERSAL</a:t>
                      </a:r>
                      <a:endParaRPr lang="en-IN" altLang="en-GB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  <a:sym typeface="+mn-ea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All Ownership Types</a:t>
                      </a:r>
                      <a:endParaRPr lang="en-IN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altLang="en-US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Circulatory #1 </a:t>
                      </a:r>
                      <a:endParaRPr lang="en-IN" altLang="en-US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altLang="en-US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everywhere</a:t>
                      </a:r>
                      <a:endParaRPr lang="en-IN" altLang="en-US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</a:endParaRPr>
                    </a:p>
                  </a:txBody>
                  <a:tcPr marL="215900" marR="215900" marT="133350" marB="133350" anchor="ctr"/>
                </a:tc>
              </a:tr>
              <a:tr h="126619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GB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GOVERNMENT HOSPITALS</a:t>
                      </a:r>
                      <a:endParaRPr lang="en-US" altLang="en-GB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GB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Govt Local · </a:t>
                      </a:r>
                      <a:endParaRPr lang="en-US" altLang="en-GB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GB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Govt District</a:t>
                      </a:r>
                      <a:endParaRPr lang="en-US" altLang="en-GB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GB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Respiratory &gt;</a:t>
                      </a:r>
                      <a:r>
                        <a:rPr lang="en-IN" altLang="en-US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 </a:t>
                      </a:r>
                      <a:r>
                        <a:rPr lang="en-US" altLang="en-GB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Musculoskeletal </a:t>
                      </a:r>
                      <a:endParaRPr lang="en-US" altLang="en-GB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GB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(32,086 vs 26,110)</a:t>
                      </a:r>
                      <a:endParaRPr lang="en-US" altLang="en-GB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</a:endParaRPr>
                    </a:p>
                  </a:txBody>
                  <a:tcPr marL="215900" marR="215900" marT="133350" marB="133350" anchor="ctr"/>
                </a:tc>
              </a:tr>
              <a:tr h="126619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GB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OUTLIER</a:t>
                      </a:r>
                      <a:endParaRPr lang="en-US" altLang="en-GB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GB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Non-profit Church</a:t>
                      </a:r>
                      <a:endParaRPr lang="en-US" altLang="en-GB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GB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Musculoskeletal &gt; Respiratory </a:t>
                      </a:r>
                      <a:endParaRPr lang="en-US" altLang="en-GB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GB" sz="1700" spc="13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Lato" panose="020F0502020204030203"/>
                        </a:rPr>
                        <a:t>(83,570 vs 81,048)</a:t>
                      </a:r>
                      <a:endParaRPr lang="en-US" altLang="en-GB" sz="1700" spc="13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Lato" panose="020F0502020204030203"/>
                      </a:endParaRPr>
                    </a:p>
                  </a:txBody>
                  <a:tcPr marL="215900" marR="215900" marT="133350" marB="133350" anchor="ctr"/>
                </a:tc>
              </a:tr>
            </a:tbl>
          </a:graphicData>
        </a:graphic>
      </p:graphicFrame>
      <p:sp>
        <p:nvSpPr>
          <p:cNvPr id="30" name="Text Box 29"/>
          <p:cNvSpPr txBox="1"/>
          <p:nvPr/>
        </p:nvSpPr>
        <p:spPr>
          <a:xfrm>
            <a:off x="8554085" y="5890260"/>
            <a:ext cx="9124315" cy="1217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algn="l">
              <a:lnSpc>
                <a:spcPct val="100000"/>
              </a:lnSpc>
              <a:buClrTx/>
              <a:buSzTx/>
              <a:buFontTx/>
            </a:pPr>
            <a:r>
              <a:rPr lang="en-IN" altLang="en-US" sz="2000" b="1" u="sng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Question</a:t>
            </a:r>
            <a:r>
              <a:rPr lang="en-IN" altLang="en-US" sz="2000" b="1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: </a:t>
            </a:r>
            <a:br>
              <a:rPr lang="en-US" altLang="en-GB" sz="20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</a:br>
            <a:r>
              <a:rPr lang="en-US" altLang="en-GB" sz="20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Which MDCs dominate by hospital type? What patterns stand out?</a:t>
            </a:r>
            <a:endParaRPr lang="en-US" altLang="en-GB" sz="2000" spc="40">
              <a:solidFill>
                <a:srgbClr val="373739"/>
              </a:solidFill>
              <a:latin typeface="Ballpoint"/>
              <a:ea typeface="Ballpoint"/>
              <a:cs typeface="Ballpoint"/>
              <a:sym typeface="Glacial Indifference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609965" y="6732905"/>
            <a:ext cx="9144000" cy="132778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8838883" y="6758940"/>
            <a:ext cx="8582025" cy="4260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3080"/>
              </a:lnSpc>
            </a:pPr>
            <a:r>
              <a:rPr lang="en-IN" sz="2000" b="1" spc="219">
                <a:solidFill>
                  <a:srgbClr val="E97142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Ownership used instead of Hospital Type</a:t>
            </a:r>
            <a:endParaRPr lang="en-IN" sz="2000" b="1" spc="219">
              <a:solidFill>
                <a:srgbClr val="E97142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610600" y="5829300"/>
            <a:ext cx="9103995" cy="82550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7" name="TextBox 9"/>
          <p:cNvSpPr txBox="1"/>
          <p:nvPr/>
        </p:nvSpPr>
        <p:spPr>
          <a:xfrm>
            <a:off x="8839200" y="7124700"/>
            <a:ext cx="8754745" cy="9937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3360"/>
              </a:lnSpc>
            </a:pPr>
            <a:r>
              <a:rPr lang="en-IN" altLang="en-US" sz="21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Hospital Type</a:t>
            </a:r>
            <a:r>
              <a:rPr lang="en-US" altLang="en-GB" sz="21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en-IN" altLang="en-US" sz="21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contains only ‘</a:t>
            </a:r>
            <a:r>
              <a:rPr lang="en-US" altLang="en-GB" sz="21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Acute Care hospitals</a:t>
            </a:r>
            <a:r>
              <a:rPr lang="en-IN" altLang="en-US" sz="21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So O</a:t>
            </a:r>
            <a:r>
              <a:rPr lang="en-US" altLang="en-GB" sz="21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wnership gives 10 distinct groups with real variation.</a:t>
            </a:r>
            <a:endParaRPr lang="en-US" altLang="en-GB" sz="2100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609965" y="8162290"/>
            <a:ext cx="9145270" cy="1786255"/>
          </a:xfrm>
          <a:prstGeom prst="roundRect">
            <a:avLst/>
          </a:prstGeom>
          <a:solidFill>
            <a:srgbClr val="FF747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9" name="Text Box 38"/>
          <p:cNvSpPr txBox="1"/>
          <p:nvPr/>
        </p:nvSpPr>
        <p:spPr>
          <a:xfrm>
            <a:off x="8763000" y="8191500"/>
            <a:ext cx="8376285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ts val="4200"/>
              </a:lnSpc>
              <a:buClrTx/>
              <a:buSzTx/>
              <a:buFontTx/>
            </a:pPr>
            <a:r>
              <a:rPr lang="en-IN" altLang="en-US" sz="1600" b="1" spc="29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</a:rPr>
              <a:t>“</a:t>
            </a:r>
            <a:r>
              <a:rPr lang="en-IN" sz="1600" b="1" spc="29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</a:rPr>
              <a:t>CIRCULATORY DOMINATES ALL OWNERSHIP TYPES.</a:t>
            </a:r>
            <a:br>
              <a:rPr lang="en-IN" sz="1600" b="1" spc="29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</a:rPr>
            </a:br>
            <a:r>
              <a:rPr lang="en-IN" sz="1600" b="1" spc="29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</a:rPr>
              <a:t>GOVERNMENT HOSPITAL(LOCAL &amp; DISTRICT) SHOWS HIGHER EMERGENCY ADMMISSON</a:t>
            </a:r>
            <a:r>
              <a:rPr lang="en-IN" altLang="en-US" sz="1600" b="1" spc="29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</a:rPr>
              <a:t>”</a:t>
            </a:r>
            <a:endParaRPr lang="en-US" altLang="en-GB" sz="1600" b="1" spc="29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/>
          <p:cNvSpPr/>
          <p:nvPr/>
        </p:nvSpPr>
        <p:spPr>
          <a:xfrm>
            <a:off x="11125200" y="6872605"/>
            <a:ext cx="6490335" cy="215138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5" name="Picture 4" descr="weight_vs_payment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723900"/>
            <a:ext cx="10913110" cy="914717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 rot="10440000">
            <a:off x="-685800" y="-1562100"/>
            <a:ext cx="2655819" cy="4132861"/>
          </a:xfrm>
          <a:custGeom>
            <a:avLst/>
            <a:gdLst/>
            <a:ahLst/>
            <a:cxnLst/>
            <a:rect l="l" t="t" r="r" b="b"/>
            <a:pathLst>
              <a:path w="2655819" h="4132861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GB" altLang="en-US"/>
          </a:p>
        </p:txBody>
      </p:sp>
      <p:sp>
        <p:nvSpPr>
          <p:cNvPr id="4" name="Freeform 4"/>
          <p:cNvSpPr/>
          <p:nvPr/>
        </p:nvSpPr>
        <p:spPr>
          <a:xfrm rot="18600000">
            <a:off x="14238769" y="-2897756"/>
            <a:ext cx="6236806" cy="8052686"/>
          </a:xfrm>
          <a:custGeom>
            <a:avLst/>
            <a:gdLst/>
            <a:ahLst/>
            <a:cxnLst/>
            <a:rect l="l" t="t" r="r" b="b"/>
            <a:pathLst>
              <a:path w="6236806" h="8052686">
                <a:moveTo>
                  <a:pt x="0" y="0"/>
                </a:moveTo>
                <a:lnTo>
                  <a:pt x="6236806" y="0"/>
                </a:lnTo>
                <a:lnTo>
                  <a:pt x="6236806" y="8052686"/>
                </a:lnTo>
                <a:lnTo>
                  <a:pt x="0" y="8052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 descr="EXL_Service_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00" y="9325610"/>
            <a:ext cx="1295400" cy="47879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-5867130" y="-190518"/>
            <a:ext cx="15872082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IN" altLang="en-US" sz="4000" b="1" spc="300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TASK 03C</a:t>
            </a:r>
            <a:endParaRPr lang="en-IN" altLang="en-US" sz="4000" b="1" spc="300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43400" y="190500"/>
            <a:ext cx="8418830" cy="5041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IN" altLang="en-US" sz="25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DRG WEIGHT VS MEDICARE PAYMENT</a:t>
            </a:r>
            <a:endParaRPr lang="en-IN" altLang="en-US" sz="2500" b="1" spc="24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124" name="Freeform 22"/>
          <p:cNvSpPr/>
          <p:nvPr/>
        </p:nvSpPr>
        <p:spPr>
          <a:xfrm rot="17700000" flipH="1" flipV="1">
            <a:off x="3928110" y="-155575"/>
            <a:ext cx="596265" cy="815975"/>
          </a:xfrm>
          <a:custGeom>
            <a:avLst/>
            <a:gdLst/>
            <a:ahLst/>
            <a:cxnLst/>
            <a:rect l="l" t="t" r="r" b="b"/>
            <a:pathLst>
              <a:path w="802634" h="832087">
                <a:moveTo>
                  <a:pt x="802634" y="832087"/>
                </a:moveTo>
                <a:lnTo>
                  <a:pt x="0" y="832087"/>
                </a:lnTo>
                <a:lnTo>
                  <a:pt x="0" y="0"/>
                </a:lnTo>
                <a:lnTo>
                  <a:pt x="802634" y="0"/>
                </a:lnTo>
                <a:lnTo>
                  <a:pt x="802634" y="83208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53265"/>
            </a:stretch>
          </a:blipFill>
        </p:spPr>
      </p:sp>
      <p:sp>
        <p:nvSpPr>
          <p:cNvPr id="30" name="Text Box 29"/>
          <p:cNvSpPr txBox="1"/>
          <p:nvPr/>
        </p:nvSpPr>
        <p:spPr>
          <a:xfrm>
            <a:off x="11430000" y="342900"/>
            <a:ext cx="6050280" cy="1561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algn="l">
              <a:lnSpc>
                <a:spcPts val="3500"/>
              </a:lnSpc>
              <a:buClrTx/>
              <a:buSzTx/>
              <a:buFontTx/>
            </a:pPr>
            <a:r>
              <a:rPr lang="en-IN" altLang="en-US" sz="2000" b="1" u="sng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Question</a:t>
            </a:r>
            <a:r>
              <a:rPr lang="en-IN" altLang="en-US" sz="2000" b="1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: </a:t>
            </a:r>
            <a:br>
              <a:rPr lang="en-US" altLang="en-GB" sz="20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</a:br>
            <a:r>
              <a:rPr lang="en-US" altLang="en-GB" sz="20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Do higher DRG weights always mean higher Medicare payments?</a:t>
            </a:r>
            <a:endParaRPr lang="en-US" altLang="en-GB" sz="2000" spc="40">
              <a:solidFill>
                <a:srgbClr val="373739"/>
              </a:solidFill>
              <a:latin typeface="Ballpoint"/>
              <a:ea typeface="Ballpoint"/>
              <a:cs typeface="Ballpoint"/>
              <a:sym typeface="Glacial Indifference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1277600" y="342900"/>
            <a:ext cx="6280785" cy="146050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aphicFrame>
        <p:nvGraphicFramePr>
          <p:cNvPr id="8" name="Table 7"/>
          <p:cNvGraphicFramePr/>
          <p:nvPr>
            <p:custDataLst>
              <p:tags r:id="rId9"/>
            </p:custDataLst>
          </p:nvPr>
        </p:nvGraphicFramePr>
        <p:xfrm>
          <a:off x="11277600" y="2171700"/>
          <a:ext cx="6337935" cy="4482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315"/>
                <a:gridCol w="4071620"/>
              </a:tblGrid>
              <a:tr h="70802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b="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ZONES</a:t>
                      </a:r>
                      <a:endParaRPr lang="en-US" altLang="en-GB" sz="2000" b="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b="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 DESCRIPTION</a:t>
                      </a:r>
                      <a:endParaRPr lang="en-US" altLang="en-GB" sz="2000" b="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 anchor="ctr" anchorCtr="0"/>
                </a:tc>
              </a:tr>
              <a:tr h="1886585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Low weight, High payment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Brain stent (weight 0.6)</a:t>
                      </a:r>
                      <a:r>
                        <a:rPr lang="en-IN" altLang="en-US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 but Medicare</a:t>
                      </a: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 paid $20,814</a:t>
                      </a:r>
                      <a:r>
                        <a:rPr lang="en-IN" altLang="en-US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 -</a:t>
                      </a: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 overpayment risk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  <a:tr h="1887855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High weight, Low payment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Severe pneumonia (weight 3.4) </a:t>
                      </a:r>
                      <a:r>
                        <a:rPr lang="en-IN" altLang="en-US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but Medicare </a:t>
                      </a: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paid $6,475</a:t>
                      </a:r>
                      <a:r>
                        <a:rPr lang="en-IN" altLang="en-US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 -</a:t>
                      </a: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 underpayment risk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1506200" y="7242810"/>
            <a:ext cx="6142355" cy="13087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algn="l">
              <a:lnSpc>
                <a:spcPts val="3360"/>
              </a:lnSpc>
              <a:buClrTx/>
              <a:buSzTx/>
              <a:buFontTx/>
            </a:pPr>
            <a:r>
              <a:rPr lang="en-US" altLang="en-GB" sz="20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No. Higher weight does NOT guarantee higher payment.State, ownership, and volume all influence what Medicare pays</a:t>
            </a:r>
            <a:endParaRPr lang="en-US" altLang="en-GB" sz="2000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lvl="0" algn="l">
              <a:lnSpc>
                <a:spcPts val="3360"/>
              </a:lnSpc>
              <a:buClrTx/>
              <a:buSzTx/>
              <a:buFontTx/>
            </a:pPr>
            <a:r>
              <a:rPr lang="en-US" altLang="en-GB" sz="20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not just clinical complexity.</a:t>
            </a:r>
            <a:endParaRPr lang="en-US" altLang="en-GB" sz="2000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1353800" y="6903085"/>
            <a:ext cx="9144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2200" b="1" spc="219">
                <a:solidFill>
                  <a:srgbClr val="E97142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ANSWER:</a:t>
            </a:r>
            <a:endParaRPr lang="en-IN" altLang="en-US" sz="2200" b="1" spc="219">
              <a:solidFill>
                <a:srgbClr val="E97142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 flipH="1">
            <a:off x="13563586" y="-3085942"/>
            <a:ext cx="7511977" cy="96991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7511977" y="0"/>
                </a:moveTo>
                <a:lnTo>
                  <a:pt x="0" y="0"/>
                </a:lnTo>
                <a:lnTo>
                  <a:pt x="0" y="9699131"/>
                </a:lnTo>
                <a:lnTo>
                  <a:pt x="7511977" y="9699131"/>
                </a:lnTo>
                <a:lnTo>
                  <a:pt x="7511977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60000" flipH="1">
            <a:off x="-1357630" y="5981065"/>
            <a:ext cx="4697730" cy="7363460"/>
          </a:xfrm>
          <a:custGeom>
            <a:avLst/>
            <a:gdLst/>
            <a:ahLst/>
            <a:cxnLst/>
            <a:rect l="l" t="t" r="r" b="b"/>
            <a:pathLst>
              <a:path w="5985173" h="7727790">
                <a:moveTo>
                  <a:pt x="5985173" y="0"/>
                </a:moveTo>
                <a:lnTo>
                  <a:pt x="0" y="0"/>
                </a:lnTo>
                <a:lnTo>
                  <a:pt x="0" y="7727790"/>
                </a:lnTo>
                <a:lnTo>
                  <a:pt x="5985173" y="7727790"/>
                </a:lnTo>
                <a:lnTo>
                  <a:pt x="5985173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381000" y="-1104900"/>
            <a:ext cx="2655819" cy="4132861"/>
          </a:xfrm>
          <a:custGeom>
            <a:avLst/>
            <a:gdLst/>
            <a:ahLst/>
            <a:cxnLst/>
            <a:rect l="l" t="t" r="r" b="b"/>
            <a:pathLst>
              <a:path w="2655819" h="4132861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 descr="EXL_Service_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68800" y="9791700"/>
            <a:ext cx="862330" cy="31877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304800" y="-38100"/>
            <a:ext cx="3999865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IN" altLang="en-US" sz="4000" b="1" spc="300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TASK 04A</a:t>
            </a:r>
            <a:endParaRPr lang="en-IN" altLang="en-US" sz="4000" b="1" spc="300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4724400" y="267970"/>
            <a:ext cx="3572510" cy="5238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altLang="en-GB" sz="25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S</a:t>
            </a:r>
            <a:r>
              <a:rPr lang="en-IN" altLang="en-US" sz="25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URPRISE FINDING</a:t>
            </a:r>
            <a:endParaRPr lang="en-IN" altLang="en-US" sz="2500" b="1" spc="24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pic>
        <p:nvPicPr>
          <p:cNvPr id="14" name="Picture 13" descr="rating_vs_charge_ratio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157605"/>
            <a:ext cx="10823575" cy="7406005"/>
          </a:xfrm>
          <a:prstGeom prst="rect">
            <a:avLst/>
          </a:prstGeom>
        </p:spPr>
      </p:pic>
      <p:sp>
        <p:nvSpPr>
          <p:cNvPr id="124" name="Freeform 22"/>
          <p:cNvSpPr/>
          <p:nvPr/>
        </p:nvSpPr>
        <p:spPr>
          <a:xfrm rot="17700000" flipH="1" flipV="1">
            <a:off x="3930650" y="-79375"/>
            <a:ext cx="596265" cy="815975"/>
          </a:xfrm>
          <a:custGeom>
            <a:avLst/>
            <a:gdLst/>
            <a:ahLst/>
            <a:cxnLst/>
            <a:rect l="l" t="t" r="r" b="b"/>
            <a:pathLst>
              <a:path w="802634" h="832087">
                <a:moveTo>
                  <a:pt x="802634" y="832087"/>
                </a:moveTo>
                <a:lnTo>
                  <a:pt x="0" y="832087"/>
                </a:lnTo>
                <a:lnTo>
                  <a:pt x="0" y="0"/>
                </a:lnTo>
                <a:lnTo>
                  <a:pt x="802634" y="0"/>
                </a:lnTo>
                <a:lnTo>
                  <a:pt x="802634" y="83208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53265"/>
            </a:stretch>
          </a:blipFill>
        </p:spPr>
      </p:sp>
      <p:sp>
        <p:nvSpPr>
          <p:cNvPr id="39" name="Text Box 38"/>
          <p:cNvSpPr txBox="1"/>
          <p:nvPr/>
        </p:nvSpPr>
        <p:spPr>
          <a:xfrm>
            <a:off x="11727180" y="265430"/>
            <a:ext cx="5247005" cy="1809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algn="ctr">
              <a:lnSpc>
                <a:spcPts val="3500"/>
              </a:lnSpc>
              <a:buClrTx/>
              <a:buSzTx/>
              <a:buFontTx/>
            </a:pPr>
            <a:r>
              <a:rPr lang="en-IN" altLang="en-US" sz="2000" b="1" u="sng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Question</a:t>
            </a:r>
            <a:r>
              <a:rPr lang="en-IN" altLang="en-US" sz="2000" b="1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: </a:t>
            </a:r>
            <a:br>
              <a:rPr lang="en-US" altLang="en-GB" sz="20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</a:br>
            <a:r>
              <a:rPr lang="en-US" altLang="en-GB" sz="20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What is the single most surprising thing you found that we did not ask about?</a:t>
            </a:r>
            <a:endParaRPr lang="en-US" altLang="en-GB" sz="2000" spc="40">
              <a:solidFill>
                <a:srgbClr val="373739"/>
              </a:solidFill>
              <a:latin typeface="Ballpoint"/>
              <a:ea typeface="Ballpoint"/>
              <a:cs typeface="Ballpoint"/>
              <a:sym typeface="Glacial Indifference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626850" y="265430"/>
            <a:ext cx="5360670" cy="182880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44" name="Rounded Rectangle 43"/>
          <p:cNvSpPr/>
          <p:nvPr/>
        </p:nvSpPr>
        <p:spPr>
          <a:xfrm>
            <a:off x="11506200" y="5835650"/>
            <a:ext cx="5974715" cy="3644265"/>
          </a:xfrm>
          <a:prstGeom prst="roundRect">
            <a:avLst/>
          </a:prstGeom>
          <a:solidFill>
            <a:srgbClr val="FF9916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41" name="TextBox 9"/>
          <p:cNvSpPr txBox="1"/>
          <p:nvPr/>
        </p:nvSpPr>
        <p:spPr>
          <a:xfrm>
            <a:off x="11727180" y="6743700"/>
            <a:ext cx="5604510" cy="25361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3360"/>
              </a:lnSpc>
            </a:pPr>
            <a:r>
              <a:rPr lang="en-US" altLang="en-GB" sz="20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Prioritise 1–2 star For-profit hospitals for audit.</a:t>
            </a:r>
            <a:endParaRPr lang="en-US" altLang="en-GB" sz="2000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lvl="0" indent="0" algn="l">
              <a:lnSpc>
                <a:spcPts val="3360"/>
              </a:lnSpc>
            </a:pPr>
            <a:r>
              <a:rPr lang="en-US" altLang="en-GB" sz="20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They are 6.3% of providers but carry the highest combined billing + quality risk.</a:t>
            </a:r>
            <a:endParaRPr lang="en-US" altLang="en-GB" sz="2000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2" name="TextBox 19"/>
          <p:cNvSpPr txBox="1"/>
          <p:nvPr/>
        </p:nvSpPr>
        <p:spPr>
          <a:xfrm>
            <a:off x="11201400" y="6040120"/>
            <a:ext cx="5894070" cy="394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IN" altLang="en-US" sz="2000" b="1" u="sng" spc="219">
                <a:solidFill>
                  <a:schemeClr val="tx1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BUSINESS RECOMMENDATION</a:t>
            </a:r>
            <a:endParaRPr lang="en-IN" altLang="en-US" sz="2000" b="1" u="sng" spc="219">
              <a:solidFill>
                <a:schemeClr val="tx1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43" name="TextBox 9"/>
          <p:cNvSpPr txBox="1"/>
          <p:nvPr/>
        </p:nvSpPr>
        <p:spPr>
          <a:xfrm>
            <a:off x="11353800" y="2933700"/>
            <a:ext cx="6947535" cy="29794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285750" lvl="0" indent="-28575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altLang="en-GB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1-star hospitals</a:t>
            </a:r>
            <a:r>
              <a:rPr lang="en-IN" altLang="en-US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with </a:t>
            </a:r>
            <a:r>
              <a:rPr lang="en-US" altLang="en-GB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516,676</a:t>
            </a:r>
            <a:r>
              <a:rPr lang="en-IN" altLang="en-US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patients </a:t>
            </a:r>
            <a:r>
              <a:rPr lang="en-US" altLang="en-GB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charge 5.</a:t>
            </a:r>
            <a:r>
              <a:rPr lang="en-IN" altLang="en-US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63</a:t>
            </a:r>
            <a:r>
              <a:rPr lang="en-US" altLang="en-GB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</a:t>
            </a:r>
            <a:endParaRPr lang="en-US" altLang="en-GB" sz="17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lvl="0" indent="-28575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altLang="en-GB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5-star hospitals </a:t>
            </a:r>
            <a:r>
              <a:rPr lang="en-IN" altLang="en-US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with </a:t>
            </a:r>
            <a:r>
              <a:rPr lang="en-US" altLang="en-GB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700,061</a:t>
            </a:r>
            <a:r>
              <a:rPr lang="en-IN" altLang="en-US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patients </a:t>
            </a:r>
            <a:r>
              <a:rPr lang="en-US" altLang="en-GB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charge 5.14x</a:t>
            </a:r>
            <a:r>
              <a:rPr lang="en-IN" altLang="en-US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endParaRPr lang="en-US" altLang="en-GB" sz="17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lvl="0" indent="-28575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altLang="en-GB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1 &amp; 2-star hospitals treated 2.15 million elderly Medicare patients in 2017</a:t>
            </a:r>
            <a:r>
              <a:rPr lang="en-IN" altLang="en-US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.</a:t>
            </a:r>
            <a:endParaRPr lang="en-US" altLang="en-GB" sz="17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lvl="0" indent="-28575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en-US" altLang="en-GB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Every star rating improvement = lower billing aggression</a:t>
            </a:r>
            <a:r>
              <a:rPr lang="en-IN" altLang="en-US" sz="17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.</a:t>
            </a:r>
            <a:endParaRPr lang="en-IN" altLang="en-US" sz="17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5" name="TextBox 19"/>
          <p:cNvSpPr txBox="1"/>
          <p:nvPr/>
        </p:nvSpPr>
        <p:spPr>
          <a:xfrm>
            <a:off x="11887200" y="2494280"/>
            <a:ext cx="4662805" cy="40449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IN" altLang="en-US" sz="2200" b="1" spc="219">
                <a:solidFill>
                  <a:srgbClr val="E97142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ANALYSIS</a:t>
            </a:r>
            <a:endParaRPr lang="en-IN" altLang="en-US" sz="2200" b="1" spc="219">
              <a:solidFill>
                <a:srgbClr val="E97142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11277600" y="2324100"/>
            <a:ext cx="6903720" cy="738759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47" name="Rounded Rectangle 46"/>
          <p:cNvSpPr/>
          <p:nvPr/>
        </p:nvSpPr>
        <p:spPr>
          <a:xfrm>
            <a:off x="1151890" y="8648700"/>
            <a:ext cx="9523095" cy="1241425"/>
          </a:xfrm>
          <a:prstGeom prst="roundRect">
            <a:avLst/>
          </a:prstGeom>
          <a:solidFill>
            <a:srgbClr val="FF747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48" name="Text Box 47"/>
          <p:cNvSpPr txBox="1"/>
          <p:nvPr/>
        </p:nvSpPr>
        <p:spPr>
          <a:xfrm>
            <a:off x="1312545" y="8677910"/>
            <a:ext cx="9356725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ts val="4200"/>
              </a:lnSpc>
              <a:buClrTx/>
              <a:buSzTx/>
              <a:buFontTx/>
            </a:pPr>
            <a:r>
              <a:rPr lang="en-IN" altLang="en-US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“</a:t>
            </a:r>
            <a:r>
              <a:rPr lang="en-IN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LOW RATED HOSPITALS ALSO SHOW HIGHER BILLING RATIOS IN THE DATASET</a:t>
            </a:r>
            <a:r>
              <a:rPr lang="en-IN" altLang="en-US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”</a:t>
            </a:r>
            <a:endParaRPr lang="en-US" altLang="en-GB" b="1" spc="29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ounded Rectangle 67"/>
          <p:cNvSpPr/>
          <p:nvPr/>
        </p:nvSpPr>
        <p:spPr>
          <a:xfrm>
            <a:off x="12192000" y="7048500"/>
            <a:ext cx="5683885" cy="2666365"/>
          </a:xfrm>
          <a:prstGeom prst="roundRect">
            <a:avLst/>
          </a:prstGeom>
          <a:solidFill>
            <a:srgbClr val="FF9916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20" name="Picture 19" descr="EXL_Service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6880" y="9791700"/>
            <a:ext cx="960120" cy="305435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990600" y="38100"/>
            <a:ext cx="3999865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IN" altLang="en-US" sz="4000" b="1" spc="300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TASK 04B</a:t>
            </a:r>
            <a:endParaRPr lang="en-IN" altLang="en-US" sz="4000" b="1" spc="300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sp>
        <p:nvSpPr>
          <p:cNvPr id="24" name="TextBox 10"/>
          <p:cNvSpPr txBox="1"/>
          <p:nvPr/>
        </p:nvSpPr>
        <p:spPr>
          <a:xfrm>
            <a:off x="5257800" y="342900"/>
            <a:ext cx="3833495" cy="482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IN" sz="25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BONUS FINDING</a:t>
            </a:r>
            <a:endParaRPr lang="en-IN" sz="2500" b="1" spc="24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124" name="Freeform 22"/>
          <p:cNvSpPr/>
          <p:nvPr/>
        </p:nvSpPr>
        <p:spPr>
          <a:xfrm rot="17700000" flipH="1" flipV="1">
            <a:off x="4540885" y="-155575"/>
            <a:ext cx="596265" cy="815975"/>
          </a:xfrm>
          <a:custGeom>
            <a:avLst/>
            <a:gdLst/>
            <a:ahLst/>
            <a:cxnLst/>
            <a:rect l="l" t="t" r="r" b="b"/>
            <a:pathLst>
              <a:path w="802634" h="832087">
                <a:moveTo>
                  <a:pt x="802634" y="832087"/>
                </a:moveTo>
                <a:lnTo>
                  <a:pt x="0" y="832087"/>
                </a:lnTo>
                <a:lnTo>
                  <a:pt x="0" y="0"/>
                </a:lnTo>
                <a:lnTo>
                  <a:pt x="802634" y="0"/>
                </a:lnTo>
                <a:lnTo>
                  <a:pt x="802634" y="8320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3265"/>
            </a:stretch>
          </a:blipFill>
        </p:spPr>
      </p:sp>
      <p:sp>
        <p:nvSpPr>
          <p:cNvPr id="55" name="Rounded Rectangle 54"/>
          <p:cNvSpPr/>
          <p:nvPr/>
        </p:nvSpPr>
        <p:spPr>
          <a:xfrm>
            <a:off x="533400" y="9029700"/>
            <a:ext cx="10070465" cy="621030"/>
          </a:xfrm>
          <a:prstGeom prst="roundRect">
            <a:avLst/>
          </a:prstGeom>
          <a:solidFill>
            <a:srgbClr val="FF747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56" name="Text Box 55"/>
          <p:cNvSpPr txBox="1"/>
          <p:nvPr/>
        </p:nvSpPr>
        <p:spPr>
          <a:xfrm>
            <a:off x="533400" y="8953500"/>
            <a:ext cx="11139805" cy="779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ts val="4200"/>
              </a:lnSpc>
              <a:buClrTx/>
              <a:buSzTx/>
              <a:buFontTx/>
            </a:pPr>
            <a:r>
              <a:rPr lang="en-IN" altLang="en-US" b="1" spc="29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</a:rPr>
              <a:t>HOSPITALS THAT COMMUNICATE POORLY ALSO OVERBILL THE MOST</a:t>
            </a:r>
            <a:endParaRPr lang="en-IN" altLang="en-US" b="1" spc="29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</a:endParaRPr>
          </a:p>
        </p:txBody>
      </p:sp>
      <p:pic>
        <p:nvPicPr>
          <p:cNvPr id="57" name="Picture 56" descr="bonus_hcahps_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781300"/>
            <a:ext cx="11574780" cy="6028690"/>
          </a:xfrm>
          <a:prstGeom prst="rect">
            <a:avLst/>
          </a:prstGeom>
        </p:spPr>
      </p:pic>
      <p:sp>
        <p:nvSpPr>
          <p:cNvPr id="58" name="Text Box 57"/>
          <p:cNvSpPr txBox="1"/>
          <p:nvPr/>
        </p:nvSpPr>
        <p:spPr>
          <a:xfrm>
            <a:off x="12268200" y="4076700"/>
            <a:ext cx="6047740" cy="2302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algn="l">
              <a:lnSpc>
                <a:spcPts val="3360"/>
              </a:lnSpc>
              <a:buClrTx/>
              <a:buSzTx/>
              <a:buFontTx/>
            </a:pPr>
            <a:r>
              <a:rPr lang="en-IN" altLang="en-US" sz="2200" b="1" spc="219">
                <a:solidFill>
                  <a:srgbClr val="E97142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  <a:t>KEY NUMBERS</a:t>
            </a:r>
            <a:br>
              <a:rPr lang="en-IN" altLang="en-US" sz="20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</a:br>
            <a:r>
              <a:rPr lang="en-US" altLang="en-GB" sz="24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Poorest 20%→6.03x</a:t>
            </a:r>
            <a:r>
              <a:rPr lang="en-IN" altLang="en-US" sz="24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 -</a:t>
            </a:r>
            <a:r>
              <a:rPr lang="en-US" altLang="en-GB" sz="24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$51,926 gap</a:t>
            </a:r>
            <a:endParaRPr lang="en-US" altLang="en-GB" sz="24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Glacial Indifference"/>
            </a:endParaRPr>
          </a:p>
          <a:p>
            <a:pPr marL="0" lvl="0" algn="l">
              <a:lnSpc>
                <a:spcPts val="3360"/>
              </a:lnSpc>
              <a:buClrTx/>
              <a:buSzTx/>
              <a:buFontTx/>
            </a:pPr>
            <a:r>
              <a:rPr lang="en-US" altLang="en-GB" sz="24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Best 20% →</a:t>
            </a:r>
            <a:r>
              <a:rPr lang="en-IN" altLang="en-US" sz="24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 </a:t>
            </a:r>
            <a:r>
              <a:rPr lang="en-US" altLang="en-GB" sz="24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4.20x · $30,922 gap</a:t>
            </a:r>
            <a:endParaRPr lang="en-US" altLang="en-GB" sz="24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Glacial Indifference"/>
            </a:endParaRPr>
          </a:p>
          <a:p>
            <a:pPr marL="0" lvl="0" algn="l">
              <a:lnSpc>
                <a:spcPts val="3360"/>
              </a:lnSpc>
              <a:buClrTx/>
              <a:buSzTx/>
              <a:buFontTx/>
            </a:pPr>
            <a:r>
              <a:rPr lang="en-US" altLang="en-GB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Hospitals that communicate poorly charge 44% more than hospitals that communicate well.</a:t>
            </a:r>
            <a:endParaRPr lang="en-US" altLang="en-GB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Glacial Indifference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2192000" y="3924300"/>
            <a:ext cx="5728335" cy="292798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3" name="Text Box 62"/>
          <p:cNvSpPr txBox="1"/>
          <p:nvPr/>
        </p:nvSpPr>
        <p:spPr>
          <a:xfrm>
            <a:off x="792480" y="1003935"/>
            <a:ext cx="11158220" cy="12884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algn="l">
              <a:lnSpc>
                <a:spcPts val="3500"/>
              </a:lnSpc>
              <a:buClrTx/>
              <a:buSzTx/>
              <a:buFontTx/>
            </a:pPr>
            <a:r>
              <a:rPr lang="en-IN" altLang="en-US" sz="2400" b="1" u="sng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Question</a:t>
            </a:r>
            <a:r>
              <a:rPr lang="en-IN" altLang="en-US" sz="2400" b="1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: </a:t>
            </a:r>
            <a:b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</a:br>
            <a: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  <a:t>Identify one dataset outside the 3 tables. Link it and find an interesting insight.</a:t>
            </a:r>
            <a:endParaRPr lang="en-US" altLang="en-GB" sz="2400" spc="40">
              <a:solidFill>
                <a:srgbClr val="373739"/>
              </a:solidFill>
              <a:latin typeface="Ballpoint"/>
              <a:ea typeface="Ballpoint"/>
              <a:cs typeface="Ballpoint"/>
              <a:sym typeface="Glacial Indifference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63880" y="1046480"/>
            <a:ext cx="11108690" cy="143510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5" name="Text Box 64"/>
          <p:cNvSpPr txBox="1"/>
          <p:nvPr/>
        </p:nvSpPr>
        <p:spPr>
          <a:xfrm>
            <a:off x="12268200" y="281940"/>
            <a:ext cx="6786245" cy="3124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 algn="l">
              <a:lnSpc>
                <a:spcPts val="3360"/>
              </a:lnSpc>
              <a:buClrTx/>
              <a:buSzTx/>
              <a:buNone/>
            </a:pPr>
            <a:r>
              <a:rPr lang="en-IN" altLang="en-US" sz="2000" b="1" spc="219">
                <a:solidFill>
                  <a:srgbClr val="E97142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  <a:t>EXTERNAL DATASET</a:t>
            </a:r>
            <a:br>
              <a:rPr lang="en-IN" altLang="en-US" sz="2000" b="1" spc="219">
                <a:solidFill>
                  <a:srgbClr val="E97142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</a:br>
            <a:r>
              <a:rPr lang="en-US" altLang="en-GB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4</a:t>
            </a:r>
            <a:r>
              <a:rPr lang="en-IN" altLang="en-US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-</a:t>
            </a:r>
            <a:r>
              <a:rPr lang="en-US" altLang="en-GB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Dataset: CMS</a:t>
            </a:r>
            <a:r>
              <a:rPr lang="en-IN" altLang="en-US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_</a:t>
            </a:r>
            <a:r>
              <a:rPr lang="en-US" altLang="en-GB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HCAHPS</a:t>
            </a:r>
            <a:r>
              <a:rPr lang="en-IN" altLang="en-US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 PatientSurvey</a:t>
            </a:r>
            <a:endParaRPr lang="en-US" altLang="en-GB" sz="20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Glacial Indifference"/>
            </a:endParaRPr>
          </a:p>
          <a:p>
            <a:pPr lvl="0" indent="0" algn="l">
              <a:lnSpc>
                <a:spcPts val="3360"/>
              </a:lnSpc>
              <a:buClrTx/>
              <a:buSzTx/>
              <a:buNone/>
            </a:pPr>
            <a:r>
              <a:rPr lang="en-US" altLang="en-GB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Source: data.cms.gov</a:t>
            </a:r>
            <a:br>
              <a:rPr lang="en-US" altLang="en-GB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</a:br>
            <a:r>
              <a:rPr lang="en-IN" altLang="en-US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Survey: </a:t>
            </a:r>
            <a:r>
              <a:rPr lang="en-US" altLang="en-GB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325,652 re</a:t>
            </a:r>
            <a:r>
              <a:rPr lang="en-IN" altLang="en-US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sponses</a:t>
            </a:r>
            <a:endParaRPr lang="en-US" altLang="en-GB" sz="20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Glacial Indifference"/>
            </a:endParaRPr>
          </a:p>
          <a:p>
            <a:pPr lvl="0" indent="0" algn="l">
              <a:lnSpc>
                <a:spcPts val="3360"/>
              </a:lnSpc>
              <a:buClrTx/>
              <a:buSzTx/>
              <a:buNone/>
            </a:pPr>
            <a:r>
              <a:rPr lang="en-US" altLang="en-GB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Join: Facility ID = CCN</a:t>
            </a:r>
            <a:endParaRPr lang="en-US" altLang="en-GB" sz="20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Glacial Indifference"/>
            </a:endParaRPr>
          </a:p>
          <a:p>
            <a:pPr lvl="0" indent="0" algn="l">
              <a:lnSpc>
                <a:spcPts val="3360"/>
              </a:lnSpc>
              <a:buClrTx/>
              <a:buSzTx/>
              <a:buNone/>
            </a:pPr>
            <a:r>
              <a:rPr lang="en-US" altLang="en-GB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Measure: H_COMP_1_A_P</a:t>
            </a:r>
            <a:endParaRPr lang="en-US" altLang="en-GB" sz="20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Glacial Indifference"/>
            </a:endParaRPr>
          </a:p>
          <a:p>
            <a:pPr lvl="0" indent="0" algn="l">
              <a:lnSpc>
                <a:spcPts val="3360"/>
              </a:lnSpc>
              <a:buClrTx/>
              <a:buSzTx/>
              <a:buNone/>
            </a:pPr>
            <a:r>
              <a:rPr lang="en-US" altLang="en-GB" sz="20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Matched: 2,812 hospitals</a:t>
            </a:r>
            <a:endParaRPr lang="en-US" altLang="en-GB" sz="20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Glacial Indifference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2191365" y="190500"/>
            <a:ext cx="5688965" cy="338455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7" name="Text Box 66"/>
          <p:cNvSpPr txBox="1"/>
          <p:nvPr/>
        </p:nvSpPr>
        <p:spPr>
          <a:xfrm>
            <a:off x="12449175" y="7200900"/>
            <a:ext cx="5301615" cy="2774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algn="l">
              <a:lnSpc>
                <a:spcPts val="3360"/>
              </a:lnSpc>
              <a:buClrTx/>
              <a:buSzTx/>
              <a:buFontTx/>
            </a:pPr>
            <a:r>
              <a:rPr lang="en-IN" altLang="en-US" sz="2400" b="1" u="sng" spc="219">
                <a:latin typeface="Heebo Bold" panose="00000800000000000000"/>
                <a:ea typeface="Heebo Bold" panose="00000800000000000000"/>
                <a:cs typeface="Heebo Bold" panose="00000800000000000000"/>
                <a:sym typeface="Glacial Indifference"/>
              </a:rPr>
              <a:t>BUSINESS RECOMMENDATION</a:t>
            </a:r>
            <a:br>
              <a:rPr lang="en-IN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  <a:sym typeface="Glacial Indifference"/>
              </a:rPr>
            </a:br>
            <a:r>
              <a:rPr lang="en-US" altLang="en-GB" sz="24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Poor communication = billing integrity signal.</a:t>
            </a:r>
            <a:endParaRPr lang="en-US" altLang="en-GB" sz="2400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Glacial Indifference"/>
            </a:endParaRPr>
          </a:p>
          <a:p>
            <a:pPr marL="0" lvl="0" algn="l">
              <a:lnSpc>
                <a:spcPts val="3360"/>
              </a:lnSpc>
              <a:buClrTx/>
              <a:buSzTx/>
              <a:buFontTx/>
            </a:pPr>
            <a:r>
              <a:rPr lang="en-US" altLang="en-GB" sz="2400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Glacial Indifference"/>
              </a:rPr>
              <a:t>Incorporate HCAHPS scores as audit risk filter.</a:t>
            </a:r>
            <a:endParaRPr lang="en-US" altLang="en-GB" sz="2400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Glacial Indifference"/>
            </a:endParaRPr>
          </a:p>
        </p:txBody>
      </p:sp>
      <p:sp>
        <p:nvSpPr>
          <p:cNvPr id="69" name="Freeform 4"/>
          <p:cNvSpPr/>
          <p:nvPr/>
        </p:nvSpPr>
        <p:spPr>
          <a:xfrm rot="-10800000">
            <a:off x="-793115" y="-800100"/>
            <a:ext cx="2655819" cy="4132861"/>
          </a:xfrm>
          <a:custGeom>
            <a:avLst/>
            <a:gdLst/>
            <a:ahLst/>
            <a:cxnLst/>
            <a:rect l="l" t="t" r="r" b="b"/>
            <a:pathLst>
              <a:path w="2655819" h="4132861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2"/>
          <p:cNvSpPr/>
          <p:nvPr/>
        </p:nvSpPr>
        <p:spPr>
          <a:xfrm rot="18556655">
            <a:off x="13421144" y="-4144881"/>
            <a:ext cx="7511977" cy="96991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6" y="0"/>
                </a:lnTo>
                <a:lnTo>
                  <a:pt x="7511976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GB" altLang="en-US"/>
          </a:p>
        </p:txBody>
      </p:sp>
      <p:sp>
        <p:nvSpPr>
          <p:cNvPr id="71" name="Freeform 2"/>
          <p:cNvSpPr/>
          <p:nvPr/>
        </p:nvSpPr>
        <p:spPr>
          <a:xfrm rot="15676655">
            <a:off x="16032264" y="-3485751"/>
            <a:ext cx="7511977" cy="96991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6" y="0"/>
                </a:lnTo>
                <a:lnTo>
                  <a:pt x="7511976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Freeform 4"/>
          <p:cNvSpPr/>
          <p:nvPr/>
        </p:nvSpPr>
        <p:spPr>
          <a:xfrm rot="-10800000">
            <a:off x="-228600" y="-571500"/>
            <a:ext cx="2655819" cy="4132861"/>
          </a:xfrm>
          <a:custGeom>
            <a:avLst/>
            <a:gdLst/>
            <a:ahLst/>
            <a:cxnLst/>
            <a:rect l="l" t="t" r="r" b="b"/>
            <a:pathLst>
              <a:path w="2655819" h="4132861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Rounded Rectangle 10"/>
          <p:cNvSpPr/>
          <p:nvPr/>
        </p:nvSpPr>
        <p:spPr>
          <a:xfrm>
            <a:off x="1447800" y="1358900"/>
            <a:ext cx="3422650" cy="269938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2" name="Rounded Rectangle 11"/>
          <p:cNvSpPr/>
          <p:nvPr/>
        </p:nvSpPr>
        <p:spPr>
          <a:xfrm>
            <a:off x="5257800" y="1409700"/>
            <a:ext cx="3429000" cy="265493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" name="Rounded Rectangle 12"/>
          <p:cNvSpPr/>
          <p:nvPr/>
        </p:nvSpPr>
        <p:spPr>
          <a:xfrm>
            <a:off x="8954770" y="1412240"/>
            <a:ext cx="3661410" cy="265366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5" name="Rounded Rectangle 14"/>
          <p:cNvSpPr/>
          <p:nvPr/>
        </p:nvSpPr>
        <p:spPr>
          <a:xfrm>
            <a:off x="1285240" y="4319905"/>
            <a:ext cx="15227300" cy="190500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1951355" y="1310640"/>
            <a:ext cx="2678430" cy="26428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PYTHON (JUPYTER)</a:t>
            </a:r>
            <a:b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</a:b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Load 3 CSVs  </a:t>
            </a:r>
            <a:b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</a:b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Clean null</a:t>
            </a:r>
            <a:b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</a:b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Fix join key </a:t>
            </a:r>
            <a:b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</a:b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Add new columns </a:t>
            </a:r>
            <a:endParaRPr lang="en-IN" sz="18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5539105" y="1257300"/>
            <a:ext cx="2948940" cy="26847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MYSQL</a:t>
            </a:r>
            <a:b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</a:b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Store 3 tables </a:t>
            </a:r>
            <a:b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</a:b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JOIN on CCN + DRG</a:t>
            </a:r>
            <a:b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</a:b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GROUP BY queries</a:t>
            </a:r>
            <a:b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</a:br>
            <a:r>
              <a:rPr lang="en-US" altLang="en-GB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196,086 rows</a:t>
            </a:r>
            <a:endParaRPr lang="en-US" altLang="en-GB" sz="18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9157335" y="1564005"/>
            <a:ext cx="3378835" cy="16421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MATPLOTLIB</a:t>
            </a:r>
            <a:b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</a:b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7 charts</a:t>
            </a:r>
            <a:b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</a:b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PNG exports</a:t>
            </a:r>
            <a:endParaRPr lang="en-IN" sz="18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13489305" y="1922780"/>
            <a:ext cx="2179955" cy="9220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POWERPOINT</a:t>
            </a:r>
            <a:b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</a:br>
            <a:r>
              <a:rPr lang="en-IN" sz="1800" b="1" spc="21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This deck</a:t>
            </a:r>
            <a:endParaRPr lang="en-IN" sz="1800" b="1" spc="21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2743200" y="4662805"/>
            <a:ext cx="13169265" cy="1559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ts val="3500"/>
              </a:lnSpc>
              <a:buClrTx/>
              <a:buSzTx/>
              <a:buFontTx/>
            </a:pPr>
            <a: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</a:rPr>
              <a:t>Python </a:t>
            </a:r>
            <a:r>
              <a:rPr lang="en-US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</a:rPr>
              <a:t>→</a:t>
            </a:r>
            <a: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</a:rPr>
              <a:t> cleaned nulls · fixed CCN zero-padding · added billing_gap, charge_ratio, mdc · MySQL </a:t>
            </a:r>
            <a:r>
              <a:rPr lang="en-US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</a:rPr>
              <a:t>→</a:t>
            </a:r>
            <a: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</a:rPr>
              <a:t> GROUP BY, JOIN, ORDER BY · Matplotlib </a:t>
            </a:r>
            <a:r>
              <a:rPr lang="en-US" altLang="en-US" sz="2400" spc="40">
                <a:solidFill>
                  <a:srgbClr val="373739"/>
                </a:solidFill>
                <a:latin typeface="Ballpoint"/>
                <a:ea typeface="Ballpoint"/>
                <a:cs typeface="Ballpoint"/>
              </a:rPr>
              <a:t>→</a:t>
            </a:r>
            <a:r>
              <a:rPr lang="en-US" altLang="en-GB" sz="2400" spc="40">
                <a:solidFill>
                  <a:srgbClr val="373739"/>
                </a:solidFill>
                <a:latin typeface="Ballpoint"/>
                <a:ea typeface="Ballpoint"/>
                <a:cs typeface="Ballpoint"/>
              </a:rPr>
              <a:t> all charts saved as PNG</a:t>
            </a:r>
            <a:endParaRPr lang="en-US" altLang="en-GB" sz="2400" spc="40">
              <a:solidFill>
                <a:srgbClr val="373739"/>
              </a:solidFill>
              <a:latin typeface="Ballpoint"/>
              <a:ea typeface="Ballpoint"/>
              <a:cs typeface="Ballpoint"/>
            </a:endParaRPr>
          </a:p>
        </p:txBody>
      </p:sp>
      <p:sp>
        <p:nvSpPr>
          <p:cNvPr id="24" name="TextBox 10"/>
          <p:cNvSpPr txBox="1"/>
          <p:nvPr/>
        </p:nvSpPr>
        <p:spPr>
          <a:xfrm>
            <a:off x="1371600" y="4925060"/>
            <a:ext cx="2634615" cy="7626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IN" sz="2500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FLOW</a:t>
            </a:r>
            <a:endParaRPr lang="en-IN" sz="2500" b="1" spc="24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32510" y="6659245"/>
            <a:ext cx="5398770" cy="298577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2" name="Text Box 21"/>
          <p:cNvSpPr txBox="1"/>
          <p:nvPr/>
        </p:nvSpPr>
        <p:spPr>
          <a:xfrm>
            <a:off x="1447800" y="6778625"/>
            <a:ext cx="436372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SELECT provider_name, state,</a:t>
            </a:r>
            <a:endParaRPr lang="en-US" altLang="en-GB"/>
          </a:p>
          <a:p>
            <a:r>
              <a:rPr lang="en-US" altLang="en-GB"/>
              <a:t>  AVG(avg_charged - avg_medicare_payment)</a:t>
            </a:r>
            <a:endParaRPr lang="en-US" altLang="en-GB"/>
          </a:p>
          <a:p>
            <a:r>
              <a:rPr lang="en-US" altLang="en-GB"/>
              <a:t>    AS billing_gap,</a:t>
            </a:r>
            <a:endParaRPr lang="en-US" altLang="en-GB"/>
          </a:p>
          <a:p>
            <a:r>
              <a:rPr lang="en-US" altLang="en-GB"/>
              <a:t>  AVG(avg_charged / avg_medicare_payment)</a:t>
            </a:r>
            <a:endParaRPr lang="en-US" altLang="en-GB"/>
          </a:p>
          <a:p>
            <a:r>
              <a:rPr lang="en-US" altLang="en-GB"/>
              <a:t>    AS charge_ratio</a:t>
            </a:r>
            <a:endParaRPr lang="en-US" altLang="en-GB"/>
          </a:p>
          <a:p>
            <a:r>
              <a:rPr lang="en-US" altLang="en-GB"/>
              <a:t>FROM inpatient_payments</a:t>
            </a:r>
            <a:endParaRPr lang="en-US" altLang="en-GB"/>
          </a:p>
          <a:p>
            <a:r>
              <a:rPr lang="en-US" altLang="en-GB"/>
              <a:t>GROUP BY provider_name, state</a:t>
            </a:r>
            <a:endParaRPr lang="en-US" altLang="en-GB"/>
          </a:p>
          <a:p>
            <a:r>
              <a:rPr lang="en-US" altLang="en-GB"/>
              <a:t>ORDER BY charge_ratio DESC</a:t>
            </a:r>
            <a:endParaRPr lang="en-US" altLang="en-GB"/>
          </a:p>
          <a:p>
            <a:r>
              <a:rPr lang="en-US" altLang="en-GB"/>
              <a:t>LIMIT 10</a:t>
            </a:r>
            <a:endParaRPr lang="en-US" altLang="en-GB"/>
          </a:p>
        </p:txBody>
      </p:sp>
      <p:sp>
        <p:nvSpPr>
          <p:cNvPr id="23" name="Text Box 22"/>
          <p:cNvSpPr txBox="1"/>
          <p:nvPr/>
        </p:nvSpPr>
        <p:spPr>
          <a:xfrm>
            <a:off x="6934200" y="6577330"/>
            <a:ext cx="45408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SELECT p.hospital_ownership,</a:t>
            </a:r>
            <a:endParaRPr lang="en-US" altLang="en-GB"/>
          </a:p>
          <a:p>
            <a:r>
              <a:rPr lang="en-US" altLang="en-GB"/>
              <a:t>  COUNT(DISTINCT i.provider_id) AS hospitals,</a:t>
            </a:r>
            <a:endParaRPr lang="en-US" altLang="en-GB"/>
          </a:p>
          <a:p>
            <a:r>
              <a:rPr lang="en-US" altLang="en-GB"/>
              <a:t>  ROUND(AVG(i.avg_charged /</a:t>
            </a:r>
            <a:endParaRPr lang="en-US" altLang="en-GB"/>
          </a:p>
          <a:p>
            <a:r>
              <a:rPr lang="en-US" altLang="en-GB"/>
              <a:t>    i.avg_medicare_payment), 2)</a:t>
            </a:r>
            <a:endParaRPr lang="en-US" altLang="en-GB"/>
          </a:p>
          <a:p>
            <a:r>
              <a:rPr lang="en-US" altLang="en-GB"/>
              <a:t>    AS avg_charge_ratio</a:t>
            </a:r>
            <a:endParaRPr lang="en-US" altLang="en-GB"/>
          </a:p>
          <a:p>
            <a:r>
              <a:rPr lang="en-US" altLang="en-GB"/>
              <a:t>FROM inpatient_payments i</a:t>
            </a:r>
            <a:endParaRPr lang="en-US" altLang="en-GB"/>
          </a:p>
          <a:p>
            <a:r>
              <a:rPr lang="en-US" altLang="en-GB"/>
              <a:t>JOIN provider_info p</a:t>
            </a:r>
            <a:endParaRPr lang="en-US" altLang="en-GB"/>
          </a:p>
          <a:p>
            <a:r>
              <a:rPr lang="en-US" altLang="en-GB"/>
              <a:t>  ON i.provider_id = p.facility_id</a:t>
            </a:r>
            <a:endParaRPr lang="en-US" altLang="en-GB"/>
          </a:p>
          <a:p>
            <a:r>
              <a:rPr lang="en-US" altLang="en-GB"/>
              <a:t>GROUP BY p.hospital_ownership</a:t>
            </a:r>
            <a:endParaRPr lang="en-US" altLang="en-GB"/>
          </a:p>
          <a:p>
            <a:r>
              <a:rPr lang="en-US" altLang="en-GB"/>
              <a:t>ORDER BY avg_charge_ratio DESC</a:t>
            </a:r>
            <a:endParaRPr lang="en-US" altLang="en-GB"/>
          </a:p>
        </p:txBody>
      </p:sp>
      <p:sp>
        <p:nvSpPr>
          <p:cNvPr id="25" name="Text Box 24"/>
          <p:cNvSpPr txBox="1"/>
          <p:nvPr/>
        </p:nvSpPr>
        <p:spPr>
          <a:xfrm>
            <a:off x="12412980" y="6770370"/>
            <a:ext cx="4105910" cy="2764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SELECT b.provider_name,</a:t>
            </a:r>
            <a:endParaRPr lang="en-US" altLang="en-GB"/>
          </a:p>
          <a:p>
            <a:r>
              <a:rPr lang="en-US" altLang="en-GB"/>
              <a:t>  b.avg_charge_ratio,</a:t>
            </a:r>
            <a:endParaRPr lang="en-US" altLang="en-GB"/>
          </a:p>
          <a:p>
            <a:r>
              <a:rPr lang="en-US" altLang="en-GB"/>
              <a:t>  h.nurse_always_pct</a:t>
            </a:r>
            <a:endParaRPr lang="en-US" altLang="en-GB"/>
          </a:p>
          <a:p>
            <a:r>
              <a:rPr lang="en-US" altLang="en-GB"/>
              <a:t>FROM inpatient_payments b</a:t>
            </a:r>
            <a:endParaRPr lang="en-US" altLang="en-GB"/>
          </a:p>
          <a:p>
            <a:r>
              <a:rPr lang="en-US" altLang="en-GB"/>
              <a:t>JOIN hcahps h</a:t>
            </a:r>
            <a:endParaRPr lang="en-US" altLang="en-GB"/>
          </a:p>
          <a:p>
            <a:r>
              <a:rPr lang="en-US" altLang="en-GB"/>
              <a:t>  ON b.provider_id = h.facility_id</a:t>
            </a:r>
            <a:endParaRPr lang="en-US" altLang="en-GB"/>
          </a:p>
          <a:p>
            <a:r>
              <a:rPr lang="en-US" altLang="en-GB"/>
              <a:t>WHERE h.HCAHPS_Measure_ID</a:t>
            </a:r>
            <a:endParaRPr lang="en-US" altLang="en-GB"/>
          </a:p>
          <a:p>
            <a:r>
              <a:rPr lang="en-US" altLang="en-GB"/>
              <a:t>  = 'H_COMP_1_A_P'</a:t>
            </a:r>
            <a:endParaRPr lang="en-US" altLang="en-GB"/>
          </a:p>
          <a:p>
            <a:r>
              <a:rPr lang="en-US" altLang="en-GB"/>
              <a:t>ORDER BY avg_charge_ratio DESC</a:t>
            </a:r>
            <a:endParaRPr lang="en-US" altLang="en-GB"/>
          </a:p>
        </p:txBody>
      </p:sp>
      <p:sp>
        <p:nvSpPr>
          <p:cNvPr id="9" name="TextBox 9"/>
          <p:cNvSpPr txBox="1"/>
          <p:nvPr/>
        </p:nvSpPr>
        <p:spPr>
          <a:xfrm>
            <a:off x="1219200" y="-495300"/>
            <a:ext cx="14348460" cy="134747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16240"/>
              </a:lnSpc>
            </a:pPr>
            <a:r>
              <a:rPr lang="en-IN" altLang="en-US" sz="5400" b="1" spc="579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TOOLS &amp; METHODOLOGY</a:t>
            </a:r>
            <a:endParaRPr lang="en-IN" altLang="en-US" sz="5400" b="1" spc="579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3083540" y="1453515"/>
            <a:ext cx="3429000" cy="261112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8" name="Rounded Rectangle 27"/>
          <p:cNvSpPr/>
          <p:nvPr/>
        </p:nvSpPr>
        <p:spPr>
          <a:xfrm>
            <a:off x="6629400" y="6520180"/>
            <a:ext cx="5072380" cy="309943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9" name="Rounded Rectangle 28"/>
          <p:cNvSpPr/>
          <p:nvPr/>
        </p:nvSpPr>
        <p:spPr>
          <a:xfrm>
            <a:off x="12080875" y="6515100"/>
            <a:ext cx="4368800" cy="309943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2" name="TextBox 10"/>
          <p:cNvSpPr txBox="1"/>
          <p:nvPr/>
        </p:nvSpPr>
        <p:spPr>
          <a:xfrm>
            <a:off x="7239000" y="9486900"/>
            <a:ext cx="4651375" cy="4711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altLang="en-GB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Query 2</a:t>
            </a:r>
            <a:r>
              <a:rPr lang="en-IN" altLang="en-US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:</a:t>
            </a:r>
            <a:r>
              <a:rPr lang="en-US" altLang="en-GB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 Aggregation</a:t>
            </a:r>
            <a:endParaRPr lang="en-US" altLang="en-GB" b="1" spc="24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34" name="TextBox 10"/>
          <p:cNvSpPr txBox="1"/>
          <p:nvPr/>
        </p:nvSpPr>
        <p:spPr>
          <a:xfrm>
            <a:off x="12435840" y="9492615"/>
            <a:ext cx="4651375" cy="4711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altLang="en-GB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Query 3</a:t>
            </a:r>
            <a:r>
              <a:rPr lang="en-IN" altLang="en-US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:</a:t>
            </a:r>
            <a:r>
              <a:rPr lang="en-US" altLang="en-GB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 External JOIN</a:t>
            </a:r>
            <a:endParaRPr lang="en-US" altLang="en-GB" b="1" spc="24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35" name="TextBox 10"/>
          <p:cNvSpPr txBox="1"/>
          <p:nvPr/>
        </p:nvSpPr>
        <p:spPr>
          <a:xfrm>
            <a:off x="1600200" y="9563100"/>
            <a:ext cx="4651375" cy="4711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altLang="en-GB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Query 1</a:t>
            </a:r>
            <a:r>
              <a:rPr lang="en-IN" altLang="en-US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:</a:t>
            </a:r>
            <a:r>
              <a:rPr lang="en-US" altLang="en-GB" b="1" spc="24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  <a:sym typeface="Heebo Bold" panose="00000800000000000000"/>
              </a:rPr>
              <a:t> Metric Creation</a:t>
            </a:r>
            <a:endParaRPr lang="en-US" altLang="en-GB" b="1" spc="24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  <a:sym typeface="Heebo Bold" panose="00000800000000000000"/>
            </a:endParaRPr>
          </a:p>
        </p:txBody>
      </p:sp>
      <p:sp>
        <p:nvSpPr>
          <p:cNvPr id="36" name="Freeform 2"/>
          <p:cNvSpPr/>
          <p:nvPr/>
        </p:nvSpPr>
        <p:spPr>
          <a:xfrm rot="18256655">
            <a:off x="12882029" y="-2171936"/>
            <a:ext cx="7511977" cy="96991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6" y="0"/>
                </a:lnTo>
                <a:lnTo>
                  <a:pt x="7511976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"/>
          <p:cNvSpPr/>
          <p:nvPr/>
        </p:nvSpPr>
        <p:spPr>
          <a:xfrm rot="720000">
            <a:off x="14485149" y="4637154"/>
            <a:ext cx="6236806" cy="8052686"/>
          </a:xfrm>
          <a:custGeom>
            <a:avLst/>
            <a:gdLst/>
            <a:ahLst/>
            <a:cxnLst/>
            <a:rect l="l" t="t" r="r" b="b"/>
            <a:pathLst>
              <a:path w="6236806" h="8052686">
                <a:moveTo>
                  <a:pt x="0" y="0"/>
                </a:moveTo>
                <a:lnTo>
                  <a:pt x="6236806" y="0"/>
                </a:lnTo>
                <a:lnTo>
                  <a:pt x="6236806" y="8052686"/>
                </a:lnTo>
                <a:lnTo>
                  <a:pt x="0" y="80526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"/>
          <p:cNvSpPr/>
          <p:nvPr/>
        </p:nvSpPr>
        <p:spPr>
          <a:xfrm rot="20160000">
            <a:off x="13559954" y="4126614"/>
            <a:ext cx="6236806" cy="8052686"/>
          </a:xfrm>
          <a:custGeom>
            <a:avLst/>
            <a:gdLst/>
            <a:ahLst/>
            <a:cxnLst/>
            <a:rect l="l" t="t" r="r" b="b"/>
            <a:pathLst>
              <a:path w="6236806" h="8052686">
                <a:moveTo>
                  <a:pt x="0" y="0"/>
                </a:moveTo>
                <a:lnTo>
                  <a:pt x="6236806" y="0"/>
                </a:lnTo>
                <a:lnTo>
                  <a:pt x="6236806" y="8052686"/>
                </a:lnTo>
                <a:lnTo>
                  <a:pt x="0" y="80526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9"/>
          <p:cNvSpPr txBox="1"/>
          <p:nvPr/>
        </p:nvSpPr>
        <p:spPr>
          <a:xfrm>
            <a:off x="1066800" y="647700"/>
            <a:ext cx="16104235" cy="185801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00000"/>
              </a:lnSpc>
            </a:pPr>
            <a:r>
              <a:rPr lang="en-IN" altLang="en-US" sz="4400" b="1" spc="579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SUMMARY: </a:t>
            </a:r>
            <a:br>
              <a:rPr lang="en-IN" altLang="en-US" sz="4400" b="1" spc="579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</a:br>
            <a:r>
              <a:rPr lang="en-IN" altLang="en-US" sz="4400" b="1" spc="579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FROM DATA TO DECISION</a:t>
            </a:r>
            <a:endParaRPr lang="en-IN" altLang="en-US" sz="4400" b="1" spc="579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  <p:sp>
        <p:nvSpPr>
          <p:cNvPr id="4" name="Freeform 2"/>
          <p:cNvSpPr/>
          <p:nvPr/>
        </p:nvSpPr>
        <p:spPr>
          <a:xfrm rot="18256655">
            <a:off x="10519829" y="-2024616"/>
            <a:ext cx="7511977" cy="96991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6" y="0"/>
                </a:lnTo>
                <a:lnTo>
                  <a:pt x="7511976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3"/>
          <p:cNvSpPr/>
          <p:nvPr/>
        </p:nvSpPr>
        <p:spPr>
          <a:xfrm rot="720000">
            <a:off x="12351549" y="3816734"/>
            <a:ext cx="6236806" cy="8052686"/>
          </a:xfrm>
          <a:custGeom>
            <a:avLst/>
            <a:gdLst/>
            <a:ahLst/>
            <a:cxnLst/>
            <a:rect l="l" t="t" r="r" b="b"/>
            <a:pathLst>
              <a:path w="6236806" h="8052686">
                <a:moveTo>
                  <a:pt x="0" y="0"/>
                </a:moveTo>
                <a:lnTo>
                  <a:pt x="6236806" y="0"/>
                </a:lnTo>
                <a:lnTo>
                  <a:pt x="6236806" y="8052686"/>
                </a:lnTo>
                <a:lnTo>
                  <a:pt x="0" y="80526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4"/>
          <p:cNvSpPr/>
          <p:nvPr/>
        </p:nvSpPr>
        <p:spPr>
          <a:xfrm rot="10800000">
            <a:off x="-212725" y="-876300"/>
            <a:ext cx="2655819" cy="4132861"/>
          </a:xfrm>
          <a:custGeom>
            <a:avLst/>
            <a:gdLst/>
            <a:ahLst/>
            <a:cxnLst/>
            <a:rect l="l" t="t" r="r" b="b"/>
            <a:pathLst>
              <a:path w="2655819" h="4132861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" name="Table 1"/>
          <p:cNvGraphicFramePr/>
          <p:nvPr/>
        </p:nvGraphicFramePr>
        <p:xfrm>
          <a:off x="1371600" y="2111375"/>
          <a:ext cx="127996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b="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Finding</a:t>
                      </a:r>
                      <a:endParaRPr lang="en-US" altLang="en-GB" sz="2000" b="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b="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Number</a:t>
                      </a:r>
                      <a:endParaRPr lang="en-US" altLang="en-GB" sz="2000" b="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b="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Action</a:t>
                      </a:r>
                      <a:endParaRPr lang="en-US" altLang="en-GB" sz="2000" b="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Hospitals above 10x charge ratio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200 hospitals (6.3%)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Immediate audit flag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For-profit charge ratio vs Govt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8.50x vs 4.16x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Ownership-based risk scoring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Low-rated hospitals overbill most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2.15M patients affected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Quality-linked audit priority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Heart Failure total exposure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$11.3B gap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Volume-weighted audit protocol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State billing gap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Maryland 1.22x vs Nevada 9.03x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GB" sz="2000" spc="210">
                          <a:solidFill>
                            <a:srgbClr val="000000"/>
                          </a:solidFill>
                          <a:latin typeface="Lato" panose="020F0502020204030203"/>
                          <a:ea typeface="Lato" panose="020F0502020204030203"/>
                          <a:cs typeface="Lato" panose="020F0502020204030203"/>
                        </a:rPr>
                        <a:t>Policy investigation</a:t>
                      </a:r>
                      <a:endParaRPr lang="en-US" altLang="en-GB" sz="2000" spc="210">
                        <a:solidFill>
                          <a:srgbClr val="000000"/>
                        </a:solidFill>
                        <a:latin typeface="Lato" panose="020F0502020204030203"/>
                        <a:ea typeface="Lato" panose="020F0502020204030203"/>
                        <a:cs typeface="Lato" panose="020F0502020204030203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7" name="Rounded Rectangle 46"/>
          <p:cNvSpPr/>
          <p:nvPr/>
        </p:nvSpPr>
        <p:spPr>
          <a:xfrm>
            <a:off x="1349375" y="7962900"/>
            <a:ext cx="12288520" cy="1767205"/>
          </a:xfrm>
          <a:prstGeom prst="roundRect">
            <a:avLst/>
          </a:prstGeom>
          <a:solidFill>
            <a:srgbClr val="FF747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48" name="Text Box 47"/>
          <p:cNvSpPr txBox="1"/>
          <p:nvPr/>
        </p:nvSpPr>
        <p:spPr>
          <a:xfrm>
            <a:off x="1371600" y="7962900"/>
            <a:ext cx="1229741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ts val="4200"/>
              </a:lnSpc>
              <a:buClrTx/>
              <a:buSzTx/>
              <a:buFontTx/>
            </a:pPr>
            <a:r>
              <a:rPr lang="en-US" altLang="en-GB" b="1" spc="299">
                <a:solidFill>
                  <a:srgbClr val="000000"/>
                </a:solidFill>
                <a:latin typeface="Heebo Bold" panose="00000800000000000000"/>
                <a:ea typeface="Heebo Bold" panose="00000800000000000000"/>
                <a:cs typeface="Heebo Bold" panose="00000800000000000000"/>
              </a:rPr>
              <a:t>Five findings. One pattern. For-profit ownership, low quality ratings, and poor nurse communication consistently predict higher billing aggression — across 3,182 hospitals, 4 datasets, and $9.82 billion in billing gap. Audit the pattern, not just the outliers."</a:t>
            </a:r>
            <a:endParaRPr lang="en-US" altLang="en-GB" b="1" spc="299">
              <a:solidFill>
                <a:srgbClr val="000000"/>
              </a:solidFill>
              <a:latin typeface="Heebo Bold" panose="00000800000000000000"/>
              <a:ea typeface="Heebo Bold" panose="00000800000000000000"/>
              <a:cs typeface="Heebo Bold" panose="00000800000000000000"/>
            </a:endParaRPr>
          </a:p>
        </p:txBody>
      </p:sp>
      <p:sp>
        <p:nvSpPr>
          <p:cNvPr id="3" name="Freeform 2"/>
          <p:cNvSpPr/>
          <p:nvPr/>
        </p:nvSpPr>
        <p:spPr>
          <a:xfrm rot="18256655">
            <a:off x="11967629" y="-3014581"/>
            <a:ext cx="7511977" cy="96991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6" y="0"/>
                </a:lnTo>
                <a:lnTo>
                  <a:pt x="7511976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3342">
            <a:off x="12347359" y="-1716641"/>
            <a:ext cx="7511977" cy="9699130"/>
          </a:xfrm>
          <a:custGeom>
            <a:avLst/>
            <a:gdLst/>
            <a:ahLst/>
            <a:cxnLst/>
            <a:rect l="l" t="t" r="r" b="b"/>
            <a:pathLst>
              <a:path w="7511977" h="9699130">
                <a:moveTo>
                  <a:pt x="0" y="0"/>
                </a:moveTo>
                <a:lnTo>
                  <a:pt x="7511976" y="0"/>
                </a:lnTo>
                <a:lnTo>
                  <a:pt x="7511976" y="9699131"/>
                </a:lnTo>
                <a:lnTo>
                  <a:pt x="0" y="9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51194" y="2234314"/>
            <a:ext cx="6236806" cy="8052686"/>
          </a:xfrm>
          <a:custGeom>
            <a:avLst/>
            <a:gdLst/>
            <a:ahLst/>
            <a:cxnLst/>
            <a:rect l="l" t="t" r="r" b="b"/>
            <a:pathLst>
              <a:path w="6236806" h="8052686">
                <a:moveTo>
                  <a:pt x="0" y="0"/>
                </a:moveTo>
                <a:lnTo>
                  <a:pt x="6236806" y="0"/>
                </a:lnTo>
                <a:lnTo>
                  <a:pt x="6236806" y="8052686"/>
                </a:lnTo>
                <a:lnTo>
                  <a:pt x="0" y="80526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0" y="0"/>
            <a:ext cx="2655819" cy="4132861"/>
          </a:xfrm>
          <a:custGeom>
            <a:avLst/>
            <a:gdLst/>
            <a:ahLst/>
            <a:cxnLst/>
            <a:rect l="l" t="t" r="r" b="b"/>
            <a:pathLst>
              <a:path w="2655819" h="4132861">
                <a:moveTo>
                  <a:pt x="0" y="0"/>
                </a:moveTo>
                <a:lnTo>
                  <a:pt x="2655819" y="0"/>
                </a:lnTo>
                <a:lnTo>
                  <a:pt x="2655819" y="4132861"/>
                </a:lnTo>
                <a:lnTo>
                  <a:pt x="0" y="4132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352756" y="3543308"/>
            <a:ext cx="12371749" cy="2048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240"/>
              </a:lnSpc>
            </a:pPr>
            <a:r>
              <a:rPr lang="en-US" sz="11600" b="1" spc="579">
                <a:solidFill>
                  <a:srgbClr val="000000"/>
                </a:solidFill>
                <a:latin typeface="Helios Extended Bold" panose="02000805050000020004"/>
                <a:ea typeface="Helios Extended Bold" panose="02000805050000020004"/>
                <a:cs typeface="Helios Extended Bold" panose="02000805050000020004"/>
                <a:sym typeface="Helios Extended Bold" panose="02000805050000020004"/>
              </a:rPr>
              <a:t>THANK YOU</a:t>
            </a:r>
            <a:endParaRPr lang="en-US" sz="11600" b="1" spc="579">
              <a:solidFill>
                <a:srgbClr val="000000"/>
              </a:solidFill>
              <a:latin typeface="Helios Extended Bold" panose="02000805050000020004"/>
              <a:ea typeface="Helios Extended Bold" panose="02000805050000020004"/>
              <a:cs typeface="Helios Extended Bold" panose="02000805050000020004"/>
              <a:sym typeface="Helios Extended Bold" panose="020008050500000200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56.6209448818897,&quot;left&quot;:143.15188976377948,&quot;top&quot;:111.48677165354334,&quot;width&quot;:1231.7259842519684}"/>
</p:tagLst>
</file>

<file path=ppt/tags/tag2.xml><?xml version="1.0" encoding="utf-8"?>
<p:tagLst xmlns:p="http://schemas.openxmlformats.org/presentationml/2006/main">
  <p:tag name="KSO_WM_DIAGRAM_VIRTUALLY_FRAME" val="{&quot;height&quot;:656.6209448818897,&quot;left&quot;:143.15188976377948,&quot;top&quot;:111.48677165354334,&quot;width&quot;:1231.7259842519684}"/>
</p:tagLst>
</file>

<file path=ppt/tags/tag3.xml><?xml version="1.0" encoding="utf-8"?>
<p:tagLst xmlns:p="http://schemas.openxmlformats.org/presentationml/2006/main">
  <p:tag name="KSO_WM_DIAGRAM_VIRTUALLY_FRAME" val="{&quot;height&quot;:656.6209448818897,&quot;left&quot;:143.15188976377948,&quot;top&quot;:111.48677165354334,&quot;width&quot;:1231.7259842519684}"/>
</p:tagLst>
</file>

<file path=ppt/tags/tag4.xml><?xml version="1.0" encoding="utf-8"?>
<p:tagLst xmlns:p="http://schemas.openxmlformats.org/presentationml/2006/main">
  <p:tag name="KSO_WM_DIAGRAM_VIRTUALLY_FRAME" val="{&quot;height&quot;:656.6209448818897,&quot;left&quot;:143.15188976377948,&quot;top&quot;:111.48677165354334,&quot;width&quot;:1231.7259842519684}"/>
</p:tagLst>
</file>

<file path=ppt/tags/tag5.xml><?xml version="1.0" encoding="utf-8"?>
<p:tagLst xmlns:p="http://schemas.openxmlformats.org/presentationml/2006/main">
  <p:tag name="KSO_WM_DIAGRAM_VIRTUALLY_FRAME" val="{&quot;height&quot;:656.6209448818897,&quot;left&quot;:143.15188976377948,&quot;top&quot;:111.48677165354334,&quot;width&quot;:1231.7259842519684}"/>
</p:tagLst>
</file>

<file path=ppt/tags/tag6.xml><?xml version="1.0" encoding="utf-8"?>
<p:tagLst xmlns:p="http://schemas.openxmlformats.org/presentationml/2006/main">
  <p:tag name="KSO_WM_DIAGRAM_VIRTUALLY_FRAME" val="{&quot;height&quot;:656.6209448818897,&quot;left&quot;:143.15188976377948,&quot;top&quot;:111.48677165354334,&quot;width&quot;:1231.7259842519684}"/>
</p:tagLst>
</file>

<file path=ppt/tags/tag7.xml><?xml version="1.0" encoding="utf-8"?>
<p:tagLst xmlns:p="http://schemas.openxmlformats.org/presentationml/2006/main">
  <p:tag name="KSO_WM_DIAGRAM_VIRTUALLY_FRAME" val="{&quot;height&quot;:656.6209448818897,&quot;left&quot;:143.15188976377948,&quot;top&quot;:111.48677165354334,&quot;width&quot;:1231.7259842519684}"/>
</p:tagLst>
</file>

<file path=ppt/tags/tag8.xml><?xml version="1.0" encoding="utf-8"?>
<p:tagLst xmlns:p="http://schemas.openxmlformats.org/presentationml/2006/main">
  <p:tag name="KSO_WM_DIAGRAM_VIRTUALLY_FRAME" val="{&quot;height&quot;:656.6209448818897,&quot;left&quot;:143.15188976377948,&quot;top&quot;:111.48677165354334,&quot;width&quot;:1231.7259842519684}"/>
</p:tagLst>
</file>

<file path=ppt/tags/tag9.xml><?xml version="1.0" encoding="utf-8"?>
<p:tagLst xmlns:p="http://schemas.openxmlformats.org/presentationml/2006/main">
  <p:tag name="KSO_WM_DIAGRAM_VIRTUALLY_FRAME" val="{&quot;height&quot;:656.6209448818897,&quot;left&quot;:143.15188976377948,&quot;top&quot;:111.48677165354334,&quot;width&quot;:1231.7259842519684}"/>
</p:tagLst>
</file>

<file path=ppt/tags/tag10.xml><?xml version="1.0" encoding="utf-8"?>
<p:tagLst xmlns:p="http://schemas.openxmlformats.org/presentationml/2006/main">
  <p:tag name="TABLE_ENDDRAG_ORIGIN_RECT" val="419*280"/>
  <p:tag name="TABLE_ENDDRAG_RECT" val="1001*416*419*280"/>
</p:tagLst>
</file>

<file path=ppt/tags/tag11.xml><?xml version="1.0" encoding="utf-8"?>
<p:tagLst xmlns:p="http://schemas.openxmlformats.org/presentationml/2006/main">
  <p:tag name="TABLE_ENDDRAG_ORIGIN_RECT" val="599*324"/>
  <p:tag name="TABLE_ENDDRAG_RECT" val="29*452*599*324"/>
  <p:tag name="TABLE_AUTOADJUST_FLAG" val="1"/>
</p:tagLst>
</file>

<file path=ppt/tags/tag12.xml><?xml version="1.0" encoding="utf-8"?>
<p:tagLst xmlns:p="http://schemas.openxmlformats.org/presentationml/2006/main">
  <p:tag name="TABLE_ENDDRAG_ORIGIN_RECT" val="499*352"/>
  <p:tag name="TABLE_ENDDRAG_RECT" val="888*171*499*35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7604</Words>
  <Application>WPS Presentation</Application>
  <PresentationFormat>On-screen Show (4:3)</PresentationFormat>
  <Paragraphs>346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89" baseType="lpstr">
      <vt:lpstr>Arial</vt:lpstr>
      <vt:lpstr>SimSun</vt:lpstr>
      <vt:lpstr>Wingdings</vt:lpstr>
      <vt:lpstr>Lato</vt:lpstr>
      <vt:lpstr>Helios Extended Bold</vt:lpstr>
      <vt:lpstr>Heebo Bold</vt:lpstr>
      <vt:lpstr>Lato Bold</vt:lpstr>
      <vt:lpstr>Glacial Indifference</vt:lpstr>
      <vt:lpstr>Arial</vt:lpstr>
      <vt:lpstr>Microsoft YaHei</vt:lpstr>
      <vt:lpstr>Arial Unicode MS</vt:lpstr>
      <vt:lpstr>Calibri</vt:lpstr>
      <vt:lpstr>Roboto</vt:lpstr>
      <vt:lpstr>Handy Casual</vt:lpstr>
      <vt:lpstr>Segoe Print</vt:lpstr>
      <vt:lpstr>Bahnschrift Light Condensed</vt:lpstr>
      <vt:lpstr>ITC Franklin Gothic LT Semi-Bold</vt:lpstr>
      <vt:lpstr>Yu Gothic UI Semibold</vt:lpstr>
      <vt:lpstr>Ballpoint</vt:lpstr>
      <vt:lpstr>Futura</vt:lpstr>
      <vt:lpstr>Yu Gothic UI</vt:lpstr>
      <vt:lpstr>Arial Black</vt:lpstr>
      <vt:lpstr>Bahnschrift</vt:lpstr>
      <vt:lpstr>Bahnschrift Condensed</vt:lpstr>
      <vt:lpstr>Bahnschrift Light SemiCondensed</vt:lpstr>
      <vt:lpstr>Bahnschrift SemiLight</vt:lpstr>
      <vt:lpstr>Bahnschrift SemiCondensed</vt:lpstr>
      <vt:lpstr>Bahnschrift SemiBold SemiCondensed</vt:lpstr>
      <vt:lpstr>Calibri Light</vt:lpstr>
      <vt:lpstr>Cambria</vt:lpstr>
      <vt:lpstr>Candara</vt:lpstr>
      <vt:lpstr>Candara Light</vt:lpstr>
      <vt:lpstr>Comic Sans MS</vt:lpstr>
      <vt:lpstr>Consolas</vt:lpstr>
      <vt:lpstr>Constantia</vt:lpstr>
      <vt:lpstr>Corbel</vt:lpstr>
      <vt:lpstr>Ebrima</vt:lpstr>
      <vt:lpstr>Franklin Gothic Medium</vt:lpstr>
      <vt:lpstr>Gabriola</vt:lpstr>
      <vt:lpstr>Gadugi</vt:lpstr>
      <vt:lpstr>Georgia</vt:lpstr>
      <vt:lpstr>Impact</vt:lpstr>
      <vt:lpstr>Ink Free</vt:lpstr>
      <vt:lpstr>Javanese Text</vt:lpstr>
      <vt:lpstr>Leelawadee UI</vt:lpstr>
      <vt:lpstr>Leelawadee UI Semilight</vt:lpstr>
      <vt:lpstr>Lucida Console</vt:lpstr>
      <vt:lpstr>Lucida Sans Unicode</vt:lpstr>
      <vt:lpstr>Malgun Gothic Semilight</vt:lpstr>
      <vt:lpstr>Microsoft PhagsPa</vt:lpstr>
      <vt:lpstr>MingLiU_MSCS-ExtB</vt:lpstr>
      <vt:lpstr>MS Gothic</vt:lpstr>
      <vt:lpstr>MS PGothic</vt:lpstr>
      <vt:lpstr>Segoe UI Emoji</vt:lpstr>
      <vt:lpstr>Segoe UI Black</vt:lpstr>
      <vt:lpstr>Segoe UI Variable Display</vt:lpstr>
      <vt:lpstr>Segoe UI Variable Display Light</vt:lpstr>
      <vt:lpstr>SimSun-ExtG</vt:lpstr>
      <vt:lpstr>SimSun-ExtB</vt:lpstr>
      <vt:lpstr>Segoe UI Variable Text Semibold</vt:lpstr>
      <vt:lpstr>Segoe UI Variable Text Semilight</vt:lpstr>
      <vt:lpstr>Sitka Heading</vt:lpstr>
      <vt:lpstr>Sitka Text Semibold</vt:lpstr>
      <vt:lpstr>Marlett</vt:lpstr>
      <vt:lpstr>Wingdings</vt:lpstr>
      <vt:lpstr>Webdings</vt:lpstr>
      <vt:lpstr>Yu Gothic UI Light</vt:lpstr>
      <vt:lpstr>Nirmala Text</vt:lpstr>
      <vt:lpstr>Nirmala Text Semilight</vt:lpstr>
      <vt:lpstr>Segoe Script</vt:lpstr>
      <vt:lpstr>Segoe UI</vt:lpstr>
      <vt:lpstr>Microsoft Sans Serif</vt:lpstr>
      <vt:lpstr>Bahnschrift SemiLight Condensed</vt:lpstr>
      <vt:lpstr>Bahnschrift SemiLight SemiCondensed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McKinsey Consulting Proposal Slides</dc:title>
  <dc:creator/>
  <cp:lastModifiedBy>adhit</cp:lastModifiedBy>
  <cp:revision>34</cp:revision>
  <dcterms:created xsi:type="dcterms:W3CDTF">2006-08-16T00:00:00Z</dcterms:created>
  <dcterms:modified xsi:type="dcterms:W3CDTF">2026-03-15T13:22:47Z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04A2DB84440D48A2A96F787856AA3A19_13</vt:lpwstr>
  </property>
  <property fmtid="{D5CDD505-2E9C-101B-9397-08002B2CF9AE}" pid="3" name="KSOProductBuildVer">
    <vt:lpwstr>2057-12.2.0.23196</vt:lpwstr>
  </property>
</Properties>
</file>